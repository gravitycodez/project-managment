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59976833ef4993" /><Relationship Type="http://schemas.openxmlformats.org/officeDocument/2006/relationships/extended-properties" Target="/docProps/app.xml" Id="R65430432a5f44d37" /><Relationship Type="http://schemas.openxmlformats.org/officeDocument/2006/relationships/officeDocument" Target="/ppt/presentation.xml" Id="R333e3cbd3ae04229"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9cd27645855649c9"/>
  </p:sldMasterIdLst>
  <p:notesMasterIdLst>
    <p:notesMasterId xmlns:r="http://schemas.openxmlformats.org/officeDocument/2006/relationships" r:id="Rc027cbd85c314ed0"/>
  </p:notesMasterIdLst>
  <p:sldIdLst>
    <p:sldId xmlns:r="http://schemas.openxmlformats.org/officeDocument/2006/relationships" id="256" r:id="R5784331b4e89462e"/>
    <p:sldId xmlns:r="http://schemas.openxmlformats.org/officeDocument/2006/relationships" id="257" r:id="R042891debc604669"/>
    <p:sldId xmlns:r="http://schemas.openxmlformats.org/officeDocument/2006/relationships" id="258" r:id="Re4a84c94b73b43ae"/>
  </p:sldIdLst>
  <p:sldSz cx="12192000" cy="6858000"/>
  <p:notesSz cx="6858000" cy="9144000"/>
  <p:embeddedFontLst>
    <p:embeddedFont>
      <p:font typeface="Inter"/>
      <p:regular xmlns:r="http://schemas.openxmlformats.org/officeDocument/2006/relationships" r:id="Re253fcb60f7542c3"/>
      <p:bold xmlns:r="http://schemas.openxmlformats.org/officeDocument/2006/relationships" r:id="Rd702013d63294cb4"/>
    </p:embeddedFont>
    <p:embeddedFont>
      <p:font typeface="Inter Medium"/>
      <p:regular xmlns:r="http://schemas.openxmlformats.org/officeDocument/2006/relationships" r:id="R4c38a7c51ad04d67"/>
    </p:embeddedFont>
    <p:embeddedFont>
      <p:font typeface="Inter SemiBold"/>
      <p:regular xmlns:r="http://schemas.openxmlformats.org/officeDocument/2006/relationships" r:id="Rc3c702e453e845be"/>
      <p:bold xmlns:r="http://schemas.openxmlformats.org/officeDocument/2006/relationships" r:id="Rfce1e6606d514e37"/>
    </p:embeddedFont>
    <p:embeddedFont>
      <p:font typeface="OpenAI Sans"/>
      <p:regular xmlns:r="http://schemas.openxmlformats.org/officeDocument/2006/relationships" r:id="R42dd8a0ed2464df4"/>
      <p:bold xmlns:r="http://schemas.openxmlformats.org/officeDocument/2006/relationships" r:id="Rbfc0f206aed04272"/>
      <p:italic xmlns:r="http://schemas.openxmlformats.org/officeDocument/2006/relationships" r:id="R3d83643b0be04030"/>
      <p:boldItalic xmlns:r="http://schemas.openxmlformats.org/officeDocument/2006/relationships" r:id="Rcd2f2ad6d36d43a6"/>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51a4a6d2f7b4f11" /><Relationship Type="http://schemas.openxmlformats.org/officeDocument/2006/relationships/slideMaster" Target="/ppt/slideMasters/slideMaster1.xml" Id="R9cd27645855649c9" /><Relationship Type="http://schemas.openxmlformats.org/officeDocument/2006/relationships/notesMaster" Target="/ppt/notesMasters/notesMaster1.xml" Id="Rc027cbd85c314ed0" /><Relationship Type="http://schemas.openxmlformats.org/officeDocument/2006/relationships/presProps" Target="/ppt/presProps.xml" Id="R29439b74efd6453f" /><Relationship Type="http://schemas.openxmlformats.org/officeDocument/2006/relationships/viewProps" Target="/ppt/viewProps.xml" Id="R176c4727df3446f9" /><Relationship Type="http://schemas.openxmlformats.org/officeDocument/2006/relationships/tableStyles" Target="/ppt/tableStyles.xml" Id="Reb13f464d205416e" /><Relationship Type="http://schemas.openxmlformats.org/officeDocument/2006/relationships/font" Target="/ppt/fonts/font.dat" Id="Re253fcb60f7542c3" /><Relationship Type="http://schemas.openxmlformats.org/officeDocument/2006/relationships/font" Target="/ppt/fonts/font2.dat" Id="Rd702013d63294cb4" /><Relationship Type="http://schemas.openxmlformats.org/officeDocument/2006/relationships/font" Target="/ppt/fonts/font3.dat" Id="R4c38a7c51ad04d67" /><Relationship Type="http://schemas.openxmlformats.org/officeDocument/2006/relationships/font" Target="/ppt/fonts/font4.dat" Id="Rc3c702e453e845be" /><Relationship Type="http://schemas.openxmlformats.org/officeDocument/2006/relationships/font" Target="/ppt/fonts/font5.dat" Id="Rfce1e6606d514e37" /><Relationship Type="http://schemas.openxmlformats.org/officeDocument/2006/relationships/font" Target="/ppt/fonts/font6.dat" Id="R42dd8a0ed2464df4" /><Relationship Type="http://schemas.openxmlformats.org/officeDocument/2006/relationships/font" Target="/ppt/fonts/font7.dat" Id="Rbfc0f206aed04272" /><Relationship Type="http://schemas.openxmlformats.org/officeDocument/2006/relationships/font" Target="/ppt/fonts/font8.dat" Id="R3d83643b0be04030" /><Relationship Type="http://schemas.openxmlformats.org/officeDocument/2006/relationships/font" Target="/ppt/fonts/font9.dat" Id="Rcd2f2ad6d36d43a6" /><Relationship Type="http://schemas.openxmlformats.org/officeDocument/2006/relationships/slide" Target="/ppt/slides/slide1.xml" Id="R5784331b4e89462e" /><Relationship Type="http://schemas.openxmlformats.org/officeDocument/2006/relationships/slide" Target="/ppt/slides/slide2.xml" Id="R042891debc604669" /><Relationship Type="http://schemas.openxmlformats.org/officeDocument/2006/relationships/slide" Target="/ppt/slides/slide3.xml" Id="Re4a84c94b73b43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5eaebb3dea42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12fe4195ed4100" /><Relationship Type="http://schemas.openxmlformats.org/officeDocument/2006/relationships/notesMaster" Target="/ppt/notesMasters/notesMaster1.xml" Id="R74570a5f40584d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5561ade8ef4858" /><Relationship Type="http://schemas.openxmlformats.org/officeDocument/2006/relationships/notesMaster" Target="/ppt/notesMasters/notesMaster1.xml" Id="Re92fc2f1758941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85996e702b4c43" /><Relationship Type="http://schemas.openxmlformats.org/officeDocument/2006/relationships/notesMaster" Target="/ppt/notesMasters/notesMaster1.xml" Id="Red2525c2f6eb44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C1 draft charter. Sources: ClassMic_Phase_C_Project_Charter.docx, sections 1 to 4 and 10. All values are carried forward from that existing draft. Approved ClassMic A2/B2 outputs and sponsor approval were not supplied. CampusCrew_Phase_B_Business_Case.docx concerns a different project. Success targets require confirmation of definitions, measurement window, sample sufficiency and acceptance owner.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ClassMic_Phase_C_Project_Charter.docx, sections 3, 4 and 10. The relative milestones are proposed and have no confirmed calendar dates. The final pilot includes the six weeks from Week 9 through Week 14. Recording and persistent audio or transcript storage remain excluded.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ClassMic_Phase_C_Project_Charter.docx, stakeholder register, governance, constraints and authorization sections. Role appointments and approval signatures remain unverified. Individual student input is handled separately at the user’s request. Genuine photos of the team discussing the charter are still required. The repository location of the approved ClassMic A2/B2 documents is awaiting clarification.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e6675ad9d2433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8fc1bbb62974c3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592c03588bb4eb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d488dcdc29949b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882b78ae9104df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397353823a6479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e648c840440413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83810da8b8545d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08de0b263f14e98" /><Relationship Type="http://schemas.openxmlformats.org/officeDocument/2006/relationships/image" Target="/ppt/media/image.png" Id="R3a0ef3c1f2d147e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0fc4d380e704b0f" /><Relationship Type="http://schemas.openxmlformats.org/officeDocument/2006/relationships/image" Target="/ppt/media/image2.png" Id="R57698069faa14b68"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b="1" i="0">
                <a:solidFill>
                  <a:schemeClr val="accent1"/>
                </a:solidFill>
                <a:latin typeface="Inter SemiBold"/>
                <a:ea typeface="Inter SemiBold"/>
                <a:cs typeface="Inter SemiBold"/>
              </a:defRPr>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952"/>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reserve="1" userDrawn="1">
  <p:cSld name="36 Field Grid">
    <p:bg>
      <p:bgPr>
        <a:blipFill xmlns:a="http://schemas.openxmlformats.org/drawingml/2006/main" rotWithShape="1">
          <a:blip xmlns:r="http://schemas.openxmlformats.org/officeDocument/2006/relationships" r:embed="R3a0ef3c1f2d147ec">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reserve="1" userDrawn="1">
  <p:cSld name="48 Field Grid">
    <p:bg>
      <p:bgPr>
        <a:blipFill xmlns:a="http://schemas.openxmlformats.org/drawingml/2006/main" rotWithShape="1">
          <a:blip xmlns:r="http://schemas.openxmlformats.org/officeDocument/2006/relationships" r:embed="R57698069faa14b68">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28a38240a104e71" /><Relationship Type="http://schemas.openxmlformats.org/officeDocument/2006/relationships/slideLayout" Target="/ppt/slideLayouts/slideLayout1.xml" Id="Rfe98caa6271647d0" /><Relationship Type="http://schemas.openxmlformats.org/officeDocument/2006/relationships/slideLayout" Target="/ppt/slideLayouts/slideLayout2.xml" Id="R6a901687da224d2a" /><Relationship Type="http://schemas.openxmlformats.org/officeDocument/2006/relationships/slideLayout" Target="/ppt/slideLayouts/slideLayout3.xml" Id="R3b99a1a481284a42" /><Relationship Type="http://schemas.openxmlformats.org/officeDocument/2006/relationships/slideLayout" Target="/ppt/slideLayouts/slideLayout4.xml" Id="R3f5dc0d35f774ce0" /><Relationship Type="http://schemas.openxmlformats.org/officeDocument/2006/relationships/slideLayout" Target="/ppt/slideLayouts/slideLayout5.xml" Id="Rf44fbf389d064399" /><Relationship Type="http://schemas.openxmlformats.org/officeDocument/2006/relationships/slideLayout" Target="/ppt/slideLayouts/slideLayout6.xml" Id="Rb8ea9170ffc84ffa" /><Relationship Type="http://schemas.openxmlformats.org/officeDocument/2006/relationships/slideLayout" Target="/ppt/slideLayouts/slideLayout7.xml" Id="R7ab8c965ca9048f3" /><Relationship Type="http://schemas.openxmlformats.org/officeDocument/2006/relationships/slideLayout" Target="/ppt/slideLayouts/slideLayout8.xml" Id="Ra3fc7f1ba538477f" /><Relationship Type="http://schemas.openxmlformats.org/officeDocument/2006/relationships/slideLayout" Target="/ppt/slideLayouts/slideLayout9.xml" Id="Rbe8cd2d581bd4de9" /><Relationship Type="http://schemas.openxmlformats.org/officeDocument/2006/relationships/slideLayout" Target="/ppt/slideLayouts/slideLayout10.xml" Id="R1ad8448cd5de49b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e98caa6271647d0"/>
    <p:sldLayoutId xmlns:r="http://schemas.openxmlformats.org/officeDocument/2006/relationships" id="2147483650" r:id="R6a901687da224d2a"/>
    <p:sldLayoutId xmlns:r="http://schemas.openxmlformats.org/officeDocument/2006/relationships" id="2147483651" r:id="R3b99a1a481284a42"/>
    <p:sldLayoutId xmlns:r="http://schemas.openxmlformats.org/officeDocument/2006/relationships" id="2147483652" r:id="R3f5dc0d35f774ce0"/>
    <p:sldLayoutId xmlns:r="http://schemas.openxmlformats.org/officeDocument/2006/relationships" id="2147483653" r:id="Rf44fbf389d064399"/>
    <p:sldLayoutId xmlns:r="http://schemas.openxmlformats.org/officeDocument/2006/relationships" id="2147483654" r:id="Rb8ea9170ffc84ffa"/>
    <p:sldLayoutId xmlns:r="http://schemas.openxmlformats.org/officeDocument/2006/relationships" id="2147483655" r:id="R7ab8c965ca9048f3"/>
    <p:sldLayoutId xmlns:r="http://schemas.openxmlformats.org/officeDocument/2006/relationships" id="2147483656" r:id="Ra3fc7f1ba538477f"/>
    <p:sldLayoutId xmlns:r="http://schemas.openxmlformats.org/officeDocument/2006/relationships" id="2147483657" r:id="Rbe8cd2d581bd4de9"/>
    <p:sldLayoutId xmlns:r="http://schemas.openxmlformats.org/officeDocument/2006/relationships" id="2147483658" r:id="R1ad8448cd5de49b3"/>
  </p:sldLayoutIdLst>
  <p:hf hdr="0" dt="0"/>
  <p:txStyles>
    <p:titleStyle>
      <a:lvl1pPr xmlns:a="http://schemas.openxmlformats.org/drawingml/2006/main" algn="l" defTabSz="914400">
        <a:lnSpc>
          <a:spcPct val="90000"/>
        </a:lnSpc>
        <a:spcBef>
          <a:spcPct val="0"/>
        </a:spcBef>
        <a:buNone/>
        <a:defRPr sz="2900" b="0" i="0" kern="1200">
          <a:solidFill>
            <a:schemeClr val="tx1"/>
          </a:solidFill>
          <a:latin typeface="Inter Medium"/>
          <a:ea typeface="Inter Medium"/>
          <a:cs typeface="Inter Medium"/>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8eca8fd6ad642ee" /><Relationship Type="http://schemas.openxmlformats.org/officeDocument/2006/relationships/notesSlide" Target="/ppt/notesSlides/notesSlide1.xml" Id="R29b5c55d2f014a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2b31a154f2a344fb" /><Relationship Type="http://schemas.openxmlformats.org/officeDocument/2006/relationships/notesSlide" Target="/ppt/notesSlides/notesSlide2.xml" Id="R22a03bbc832a45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fcc7494cd92452d" /><Relationship Type="http://schemas.openxmlformats.org/officeDocument/2006/relationships/notesSlide" Target="/ppt/notesSlides/notesSlide3.xml" Id="R3deda0fe491944a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pPr marL="0" lvl="0" indent="0">
              <a:spcBef>
                <a:spcPts val="0"/>
              </a:spcBef>
              <a:spcAft>
                <a:spcPts val="500"/>
              </a:spcAft>
              <a:buNone/>
            </a:pPr>
            <a:r>
              <a:rPr sz="1000">
                <a:latin typeface="Helvetica Neue"/>
                <a:ea typeface="Helvetica Neue"/>
                <a:cs typeface="Helvetica Neue"/>
              </a:rPr>
              <a:t>1</a:t>
            </a:r>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9"/>
            <a:ext cx="7835900" cy="58158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lvl="0" indent="0">
              <a:spcBef>
                <a:spcPts val="0"/>
              </a:spcBef>
              <a:spcAft>
                <a:spcPts val="500"/>
              </a:spcAft>
              <a:buNone/>
            </a:pPr>
            <a:r>
              <a:rPr>
                <a:latin typeface="Helvetica Neue"/>
                <a:ea typeface="Helvetica Neue"/>
                <a:cs typeface="Helvetica Neue"/>
              </a:rPr>
              <a:t>ClassMic C1 project charter</a:t>
            </a:r>
            <a:endParaRP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14000"/>
              </a:lnSpc>
              <a:spcBef>
                <a:spcPts val="0"/>
              </a:spcBef>
              <a:spcAft>
                <a:spcPts val="850"/>
              </a:spcAft>
              <a:buNone/>
            </a:pPr>
            <a:r>
              <a:rPr sz="1800">
                <a:solidFill>
                  <a:prstClr val="black"/>
                </a:solidFill>
                <a:latin typeface="Helvetica Neue"/>
                <a:ea typeface="Helvetica Neue"/>
                <a:cs typeface="Helvetica Neue"/>
              </a:rPr>
              <a:t>Draft authorization</a:t>
            </a:r>
          </a:p>
          <a:p xmlns:a="http://schemas.openxmlformats.org/drawingml/2006/main">
            <a:pPr marL="0" lvl="0" indent="0">
              <a:lnSpc>
                <a:spcPct val="114000"/>
              </a:lnSpc>
              <a:spcBef>
                <a:spcPts val="0"/>
              </a:spcBef>
              <a:spcAft>
                <a:spcPts val="500"/>
              </a:spcAft>
              <a:buNone/>
            </a:pPr>
            <a:r>
              <a:rPr sz="1600">
                <a:solidFill>
                  <a:prstClr val="black"/>
                </a:solidFill>
                <a:latin typeface="Helvetica Neue"/>
                <a:ea typeface="Helvetica Neue"/>
                <a:cs typeface="Helvetica Neue"/>
              </a:rPr>
              <a:t>Test student phones as instructor-controlled microphones to improve classroom audibility and participation. Proposed pilot: 14 weeks, three classrooms, six weeks live and an AED 60,000 ceiling.</a:t>
            </a:r>
          </a:p>
        </p:txBody>
      </p:sp>
      <p:graphicFrame>
        <p:nvGraphicFramePr>
          <p:cNvPr id="538" name="Google Shape;644;p93"/>
          <p:cNvGraphicFramePr/>
          <p:nvPr/>
        </p:nvGraphicFramePr>
        <p:xfrm>
          <a:off xmlns:a="http://schemas.openxmlformats.org/drawingml/2006/main" x="393700" y="2251080"/>
          <a:ext xmlns:a="http://schemas.openxmlformats.org/drawingml/2006/main" cx="11404599" cy="3932614"/>
        </p:xfrm>
        <a:graphic xmlns:a="http://schemas.openxmlformats.org/drawingml/2006/main">
          <a:graphicData uri="http://schemas.openxmlformats.org/drawingml/2006/table">
            <a:tbl>
              <a:tblPr firstRow="1"/>
              <a:tblGrid>
                <a:gridCol w="2500000"/>
                <a:gridCol w="5000000"/>
                <a:gridCol w="3904599"/>
              </a:tblGrid>
              <a:tr h="655436">
                <a:tc>
                  <a:txBody>
                    <a:bodyPr/>
                    <a:lstStyle/>
                    <a:p>
                      <a:pPr marL="0" lvl="0" indent="0" algn="l">
                        <a:lnSpc>
                          <a:spcPct val="105000"/>
                        </a:lnSpc>
                        <a:spcBef>
                          <a:spcPts val="0"/>
                        </a:spcBef>
                        <a:spcAft>
                          <a:spcPts val="0"/>
                        </a:spcAft>
                        <a:buNone/>
                      </a:pPr>
                      <a:r>
                        <a:rPr sz="1700" b="1">
                          <a:solidFill>
                            <a:schemeClr val="accent5">
                              <a:lumMod val="50000"/>
                            </a:schemeClr>
                          </a:solidFill>
                          <a:latin typeface="Helvetica Neue"/>
                          <a:ea typeface="Helvetica Neue"/>
                          <a:cs typeface="Helvetica Neue"/>
                        </a:rPr>
                        <a:t>Success measure</a:t>
                      </a:r>
                      <a:endParaRPr sz="1400" b="1">
                        <a:solidFill>
                          <a:schemeClr val="accent5">
                            <a:lumMod val="50000"/>
                          </a:schemeClr>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c>
                  <a:txBody>
                    <a:bodyPr/>
                    <a:lstStyle/>
                    <a:p>
                      <a:pPr marL="0" lvl="0" indent="0" algn="l">
                        <a:lnSpc>
                          <a:spcPct val="105000"/>
                        </a:lnSpc>
                        <a:spcBef>
                          <a:spcPts val="0"/>
                        </a:spcBef>
                        <a:spcAft>
                          <a:spcPts val="0"/>
                        </a:spcAft>
                        <a:buClr>
                          <a:srgbClr val="000000"/>
                        </a:buClr>
                        <a:buSzPts val="1200"/>
                        <a:buFont typeface="Arial"/>
                        <a:buNone/>
                      </a:pPr>
                      <a:r>
                        <a:rPr sz="1700" b="1">
                          <a:solidFill>
                            <a:schemeClr val="accent5">
                              <a:lumMod val="50000"/>
                            </a:schemeClr>
                          </a:solidFill>
                          <a:latin typeface="Helvetica Neue"/>
                          <a:ea typeface="Helvetica Neue"/>
                          <a:cs typeface="Helvetica Neue"/>
                        </a:rPr>
                        <a:t>Proposed target</a:t>
                      </a:r>
                      <a:endParaRPr sz="1400" b="1">
                        <a:solidFill>
                          <a:schemeClr val="accent5">
                            <a:lumMod val="50000"/>
                          </a:schemeClr>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c>
                  <a:txBody>
                    <a:bodyPr/>
                    <a:lstStyle/>
                    <a:p>
                      <a:pPr marL="0" lvl="0" indent="0" algn="l">
                        <a:lnSpc>
                          <a:spcPct val="105000"/>
                        </a:lnSpc>
                        <a:spcBef>
                          <a:spcPts val="0"/>
                        </a:spcBef>
                        <a:spcAft>
                          <a:spcPts val="0"/>
                        </a:spcAft>
                        <a:buNone/>
                      </a:pPr>
                      <a:r>
                        <a:rPr sz="1700" b="1">
                          <a:solidFill>
                            <a:schemeClr val="accent5">
                              <a:lumMod val="50000"/>
                            </a:schemeClr>
                          </a:solidFill>
                          <a:latin typeface="Helvetica Neue"/>
                          <a:ea typeface="Helvetica Neue"/>
                          <a:cs typeface="Helvetica Neue"/>
                        </a:rPr>
                        <a:t>Evidence</a:t>
                      </a:r>
                      <a:endParaRPr sz="1400" b="1">
                        <a:solidFill>
                          <a:schemeClr val="accent5">
                            <a:lumMod val="50000"/>
                          </a:schemeClr>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r>
              <a:tr h="655436">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Session setup</a:t>
                      </a:r>
                      <a:endParaRPr sz="1400">
                        <a:solidFill>
                          <a:srgbClr val="000000"/>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rgbClr val="D1D2D3">
                          <a:alpha val="0"/>
                        </a:srgbClr>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At least 90% within 2 minutes</a:t>
                      </a:r>
                      <a:endParaRPr sz="1400">
                        <a:solidFill>
                          <a:srgbClr val="000000"/>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chemeClr val="dk1"/>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Timed session records</a:t>
                      </a:r>
                      <a:endParaRPr sz="1400">
                        <a:solidFill>
                          <a:srgbClr val="000000"/>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chemeClr val="dk1"/>
                      </a:solidFill>
                      <a:prstDash val="solid"/>
                    </a:lnB>
                  </a:tcPr>
                </a:tc>
              </a:tr>
              <a:tr h="655436">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Speaking access</a:t>
                      </a:r>
                      <a:endParaRPr sz="1400">
                        <a:solidFill>
                          <a:srgbClr val="000000"/>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rgbClr val="D1D2D3">
                          <a:alpha val="0"/>
                        </a:srgbClr>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At least 90% audible within 3 seconds of approval</a:t>
                      </a:r>
                      <a:endParaRPr sz="1400">
                        <a:solidFill>
                          <a:srgbClr val="000000"/>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Request and audio timing</a:t>
                      </a:r>
                      <a:endParaRPr sz="1400">
                        <a:solidFill>
                          <a:srgbClr val="000000"/>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655436">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Audio delay</a:t>
                      </a:r>
                      <a:endParaRPr sz="1400">
                        <a:solidFill>
                          <a:srgbClr val="000000"/>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rgbClr val="D1D2D3">
                          <a:alpha val="0"/>
                        </a:srgbClr>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Median of 700 ms or less</a:t>
                      </a:r>
                      <a:endParaRPr sz="1400">
                        <a:solidFill>
                          <a:srgbClr val="000000"/>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Latency tests</a:t>
                      </a:r>
                      <a:endParaRPr sz="1400">
                        <a:solidFill>
                          <a:srgbClr val="000000"/>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655436">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Audibility</a:t>
                      </a:r>
                      <a:endParaRPr sz="1400">
                        <a:solidFill>
                          <a:srgbClr val="000000"/>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rgbClr val="D1D2D3">
                          <a:alpha val="0"/>
                        </a:srgbClr>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At least 75% positive feedback</a:t>
                      </a:r>
                      <a:endParaRPr sz="1400">
                        <a:solidFill>
                          <a:srgbClr val="000000"/>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Student and instructor survey</a:t>
                      </a:r>
                      <a:endParaRPr sz="1400">
                        <a:solidFill>
                          <a:srgbClr val="000000"/>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655436">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Privacy and security</a:t>
                      </a:r>
                      <a:endParaRPr sz="1400">
                        <a:solidFill>
                          <a:srgbClr val="000000"/>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rgbClr val="D1D2D3">
                          <a:alpha val="0"/>
                        </a:srgbClr>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Zero critical incidents</a:t>
                      </a:r>
                      <a:endParaRPr sz="1400">
                        <a:solidFill>
                          <a:srgbClr val="000000"/>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Incident and control records</a:t>
                      </a:r>
                      <a:endParaRPr sz="1400">
                        <a:solidFill>
                          <a:srgbClr val="000000"/>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bl>
          </a:graphicData>
        </a:graphic>
      </p:graphicFrame>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nvSpPr>
        <p:spPr>
          <a:xfrm xmlns:a="http://schemas.openxmlformats.org/drawingml/2006/main">
            <a:off x="393700" y="6330000"/>
            <a:ext cx="10600000" cy="320000"/>
          </a:xfrm>
        </p:spPr>
        <p:txBody>
          <a:bodyPr xmlns:a="http://schemas.openxmlformats.org/drawingml/2006/main">
            <a:noAutofit/>
          </a:bodyPr>
          <a:lstStyle xmlns:a="http://schemas.openxmlformats.org/drawingml/2006/main"/>
          <a:p xmlns:a="http://schemas.openxmlformats.org/drawingml/2006/main">
            <a:pPr marL="0" lvl="0" indent="0">
              <a:spcBef>
                <a:spcPts val="0"/>
              </a:spcBef>
              <a:spcAft>
                <a:spcPts val="500"/>
              </a:spcAft>
              <a:buNone/>
            </a:pPr>
            <a:r>
              <a:rPr sz="1200">
                <a:latin typeface="Helvetica Neue"/>
                <a:ea typeface="Helvetica Neue"/>
                <a:cs typeface="Helvetica Neue"/>
              </a:rPr>
              <a:t>Draft targets and limits require confirmation against the approved ClassMic A2 and B2 outputs.</a:t>
            </a:r>
            <a:endParaRPr sz="1100"/>
          </a:p>
        </p:txBody>
      </p:sp>
    </p:spTree>
    <p:extLst>
      <p:ext uri="{BB962C8B-B14F-4D97-AF65-F5344CB8AC3E}">
        <p14:creationId xmlns:p14="http://schemas.microsoft.com/office/powerpoint/2010/main" val="32985487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1"/>
          </p:nvPr>
        </p:nvSpPr>
        <p:spPr>
          <a:xfrm xmlns:a="http://schemas.openxmlformats.org/drawingml/2006/main">
            <a:off x="393700" y="2032000"/>
            <a:ext cx="5537200" cy="1643185"/>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850"/>
              </a:spcAft>
              <a:buClrTx/>
              <a:buSzTx/>
              <a:buFontTx/>
              <a:buNone/>
            </a:pPr>
            <a:r>
              <a:rPr sz="2400" b="0" i="0" u="none" cap="none" spc="0">
                <a:ln>
                  <a:noFill/>
                </a:ln>
                <a:solidFill>
                  <a:prstClr val="black"/>
                </a:solidFill>
                <a:latin typeface="Helvetica Neue"/>
                <a:ea typeface="Helvetica Neue"/>
                <a:cs typeface="Helvetica Neue"/>
              </a:rPr>
              <a:t>Included scope</a:t>
            </a:r>
          </a:p>
          <a:p xmlns:a="http://schemas.openxmlformats.org/drawingml/2006/main">
            <a:pPr marL="0" marR="0" lvl="0" indent="0" algn="l" defTabSz="914400">
              <a:lnSpc>
                <a:spcPct val="100000"/>
              </a:lnSpc>
              <a:spcBef>
                <a:spcPts val="0"/>
              </a:spcBef>
              <a:spcAft>
                <a:spcPts val="500"/>
              </a:spcAft>
              <a:buClrTx/>
              <a:buSzTx/>
              <a:buFontTx/>
              <a:buNone/>
            </a:pPr>
            <a:r>
              <a:rPr sz="1800" b="0" i="0" u="none" cap="none" spc="0">
                <a:ln>
                  <a:noFill/>
                </a:ln>
                <a:solidFill>
                  <a:prstClr val="black"/>
                </a:solidFill>
                <a:latin typeface="Helvetica Neue"/>
                <a:ea typeface="Helvetica Neue"/>
                <a:cs typeface="Helvetica Neue"/>
              </a:rPr>
              <a:t>Browser and QR join, temporary sessions, speaking queue, instructor controls, one active phone microphone, room speaker output, user guidance and pilot evaluation.</a:t>
            </a: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p:txBody>
          <a:bodyPr xmlns:a="http://schemas.openxmlformats.org/drawingml/2006/main">
            <a:noAutofit/>
          </a:bodyPr>
          <a:lstStyle xmlns:a="http://schemas.openxmlformats.org/drawingml/2006/main"/>
          <a:p xmlns:a="http://schemas.openxmlformats.org/drawingml/2006/main">
            <a:pPr marL="0" lvl="0" indent="0">
              <a:spcBef>
                <a:spcPts val="0"/>
              </a:spcBef>
              <a:spcAft>
                <a:spcPts val="500"/>
              </a:spcAft>
              <a:buNone/>
            </a:pPr>
            <a:r>
              <a:rPr sz="1000">
                <a:latin typeface="Helvetica Neue"/>
                <a:ea typeface="Helvetica Neue"/>
                <a:cs typeface="Helvetica Neue"/>
              </a:rPr>
              <a:t>2</a:t>
            </a:r>
            <a:endParaRP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10"/>
          </p:nvPr>
        </p:nvSpPr>
        <p:spPr>
          <a:xfrm xmlns:a="http://schemas.openxmlformats.org/drawingml/2006/main">
            <a:off x="6256618" y="2032000"/>
            <a:ext cx="5537200" cy="1643185"/>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850"/>
              </a:spcAft>
              <a:buClrTx/>
              <a:buSzTx/>
              <a:buFontTx/>
              <a:buNone/>
            </a:pPr>
            <a:r>
              <a:rPr sz="2400" b="0" i="0" u="none" cap="none" spc="0">
                <a:ln>
                  <a:noFill/>
                </a:ln>
                <a:solidFill>
                  <a:prstClr val="black"/>
                </a:solidFill>
                <a:latin typeface="Helvetica Neue"/>
                <a:ea typeface="Helvetica Neue"/>
                <a:cs typeface="Helvetica Neue"/>
              </a:rPr>
              <a:t>Exclusions</a:t>
            </a:r>
          </a:p>
          <a:p xmlns:a="http://schemas.openxmlformats.org/drawingml/2006/main">
            <a:pPr marL="0" marR="0" lvl="0" indent="0" algn="l" defTabSz="914400">
              <a:lnSpc>
                <a:spcPct val="100000"/>
              </a:lnSpc>
              <a:spcBef>
                <a:spcPts val="0"/>
              </a:spcBef>
              <a:spcAft>
                <a:spcPts val="500"/>
              </a:spcAft>
              <a:buClrTx/>
              <a:buSzTx/>
              <a:buFontTx/>
              <a:buNone/>
            </a:pPr>
            <a:r>
              <a:rPr sz="1800" b="0" i="0" u="none" cap="none" spc="0">
                <a:ln>
                  <a:noFill/>
                </a:ln>
                <a:solidFill>
                  <a:prstClr val="black"/>
                </a:solidFill>
                <a:latin typeface="Helvetica Neue"/>
                <a:ea typeface="Helvetica Neue"/>
                <a:cs typeface="Helvetica Neue"/>
              </a:rPr>
              <a:t>Recording, stored audio or transcripts, voice identification, speech-based attendance or grading, simultaneous microphones, permanent profiles, remote learning and campus-wide rollout.</a:t>
            </a: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9"/>
            <a:ext cx="7835900" cy="1040292"/>
          </a:xfrm>
        </p:spPr>
        <p:txBody>
          <a:bodyPr xmlns:a="http://schemas.openxmlformats.org/drawingml/2006/main">
            <a:noAutofit/>
          </a:bodyPr>
          <a:lstStyle xmlns:a="http://schemas.openxmlformats.org/drawingml/2006/main"/>
          <a:p xmlns:a="http://schemas.openxmlformats.org/drawingml/2006/main">
            <a:pPr marL="0" lvl="0" indent="0">
              <a:spcBef>
                <a:spcPts val="0"/>
              </a:spcBef>
              <a:spcAft>
                <a:spcPts val="500"/>
              </a:spcAft>
              <a:buNone/>
            </a:pPr>
            <a:r>
              <a:rPr>
                <a:latin typeface="Helvetica Neue"/>
                <a:ea typeface="Helvetica Neue"/>
                <a:cs typeface="Helvetica Neue"/>
              </a:rPr>
              <a:t>Scope and delivery</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10000"/>
              </a:lnSpc>
              <a:spcBef>
                <a:spcPts val="0"/>
              </a:spcBef>
              <a:spcAft>
                <a:spcPts val="850"/>
              </a:spcAft>
              <a:buFontTx/>
              <a:buNone/>
            </a:pPr>
            <a:r>
              <a:rPr sz="2400">
                <a:solidFill>
                  <a:prstClr val="black"/>
                </a:solidFill>
                <a:latin typeface="Helvetica Neue"/>
                <a:ea typeface="Helvetica Neue"/>
                <a:cs typeface="Helvetica Neue"/>
              </a:rPr>
              <a:t>High level requirements</a:t>
            </a:r>
          </a:p>
          <a:p xmlns:a="http://schemas.openxmlformats.org/drawingml/2006/main">
            <a:pPr marL="0" lvl="0" indent="0">
              <a:lnSpc>
                <a:spcPct val="100000"/>
              </a:lnSpc>
              <a:spcBef>
                <a:spcPts val="0"/>
              </a:spcBef>
              <a:spcAft>
                <a:spcPts val="500"/>
              </a:spcAft>
              <a:buFontTx/>
              <a:buNone/>
            </a:pPr>
            <a:r>
              <a:rPr sz="1800">
                <a:solidFill>
                  <a:prstClr val="black"/>
                </a:solidFill>
                <a:latin typeface="Helvetica Neue"/>
                <a:ea typeface="Helvetica Neue"/>
                <a:cs typeface="Helvetica Neue"/>
              </a:rPr>
              <a:t>Explicit microphone permission, instructor approval, push to talk and mute/end controls. Preserve privacy and accessible participation, with a physical microphone or instructor-repeat fallback.</a:t>
            </a:r>
            <a:endParaRPr sz="1800">
              <a:solidFill>
                <a:prstClr val="black"/>
              </a:solidFill>
              <a:latin typeface="Helvetica Neue"/>
              <a:ea typeface="Helvetica Neue"/>
              <a:cs typeface="Helvetica Neue"/>
            </a:endParaRP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10000"/>
              </a:lnSpc>
              <a:spcBef>
                <a:spcPts val="0"/>
              </a:spcBef>
              <a:spcAft>
                <a:spcPts val="850"/>
              </a:spcAft>
              <a:buFontTx/>
              <a:buNone/>
            </a:pPr>
            <a:r>
              <a:rPr sz="2400">
                <a:solidFill>
                  <a:prstClr val="black"/>
                </a:solidFill>
                <a:latin typeface="Helvetica Neue"/>
                <a:ea typeface="Helvetica Neue"/>
                <a:cs typeface="Helvetica Neue"/>
              </a:rPr>
              <a:t>Deliverables and milestones</a:t>
            </a:r>
          </a:p>
          <a:p xmlns:a="http://schemas.openxmlformats.org/drawingml/2006/main">
            <a:pPr marL="0" lvl="0" indent="0">
              <a:lnSpc>
                <a:spcPct val="100000"/>
              </a:lnSpc>
              <a:spcBef>
                <a:spcPts val="0"/>
              </a:spcBef>
              <a:spcAft>
                <a:spcPts val="500"/>
              </a:spcAft>
              <a:buFontTx/>
              <a:buNone/>
            </a:pPr>
            <a:r>
              <a:rPr sz="1800">
                <a:solidFill>
                  <a:prstClr val="black"/>
                </a:solidFill>
                <a:latin typeface="Helvetica Neue"/>
                <a:ea typeface="Helvetica Neue"/>
                <a:cs typeface="Helvetica Neue"/>
              </a:rPr>
              <a:t>W1 charter and kickoff. W2–3 requirements. W4–6 prototype. W7–8 testing and user acceptance. W9–14 six-week pilot, evaluation and sponsor decision.</a:t>
            </a:r>
            <a:endParaRPr sz="1800">
              <a:solidFill>
                <a:prstClr val="black"/>
              </a:solidFill>
              <a:latin typeface="Helvetica Neue"/>
              <a:ea typeface="Helvetica Neue"/>
              <a:cs typeface="Helvetica Neue"/>
            </a:endParaRPr>
          </a:p>
        </p:txBody>
      </p:sp>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nvSpPr>
        <p:spPr>
          <a:xfrm xmlns:a="http://schemas.openxmlformats.org/drawingml/2006/main">
            <a:off x="393700" y="6330000"/>
            <a:ext cx="10600000" cy="320000"/>
          </a:xfrm>
        </p:spPr>
        <p:txBody>
          <a:bodyPr xmlns:a="http://schemas.openxmlformats.org/drawingml/2006/main">
            <a:noAutofit/>
          </a:bodyPr>
          <a:lstStyle xmlns:a="http://schemas.openxmlformats.org/drawingml/2006/main"/>
          <a:p xmlns:a="http://schemas.openxmlformats.org/drawingml/2006/main">
            <a:pPr marL="0" lvl="0" indent="0">
              <a:spcBef>
                <a:spcPts val="0"/>
              </a:spcBef>
              <a:spcAft>
                <a:spcPts val="500"/>
              </a:spcAft>
              <a:buNone/>
            </a:pPr>
            <a:r>
              <a:rPr sz="1200">
                <a:latin typeface="Helvetica Neue"/>
                <a:ea typeface="Helvetica Neue"/>
                <a:cs typeface="Helvetica Neue"/>
              </a:rPr>
              <a:t>Schedule and resource commitments remain subject to confirmation.</a:t>
            </a:r>
            <a:endParaRPr sz="1100"/>
          </a:p>
        </p:txBody>
      </p:sp>
    </p:spTree>
    <p:extLst>
      <p:ext uri="{BB962C8B-B14F-4D97-AF65-F5344CB8AC3E}">
        <p14:creationId xmlns:p14="http://schemas.microsoft.com/office/powerpoint/2010/main" val="36014548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DBC152D0-CDF3-969A-A32E-0A1C97DA9364}"/>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pPr marL="0" lvl="0" indent="0">
              <a:spcBef>
                <a:spcPts val="0"/>
              </a:spcBef>
              <a:spcAft>
                <a:spcPts val="500"/>
              </a:spcAft>
              <a:buNone/>
            </a:pPr>
            <a:r>
              <a:rPr sz="1000">
                <a:latin typeface="Helvetica Neue"/>
                <a:ea typeface="Helvetica Neue"/>
                <a:cs typeface="Helvetica Neue"/>
              </a:rPr>
              <a:t>3</a:t>
            </a:r>
            <a:endParaRPr/>
          </a:p>
        </p:txBody>
      </p:sp>
      <p:sp>
        <p:nvSpPr>
          <p:cNvPr id="533" name="Google Shape;533;p58">
            <a:extLst xmlns:a="http://schemas.openxmlformats.org/drawingml/2006/main">
              <a:ext uri="{FF2B5EF4-FFF2-40B4-BE49-F238E27FC236}">
                <a16:creationId xmlns:a16="http://schemas.microsoft.com/office/drawing/2014/main" id="{9CA28587-E9DB-FD6E-67D5-B6C4D20349B7}"/>
              </a:ext>
            </a:extLst>
          </p:cNvPr>
          <p:cNvSpPr>
            <a:spLocks xmlns:a="http://schemas.openxmlformats.org/drawingml/2006/main" noGrp="1"/>
          </p:cNvSpPr>
          <p:nvPr>
            <p:ph type="title" idx="0"/>
          </p:nvPr>
        </p:nvSpPr>
        <p:spPr>
          <a:xfrm xmlns:a="http://schemas.openxmlformats.org/drawingml/2006/main">
            <a:off x="393700" y="344008"/>
            <a:ext cx="7835900" cy="1047491"/>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lvl="0" indent="0">
              <a:spcBef>
                <a:spcPts val="0"/>
              </a:spcBef>
              <a:spcAft>
                <a:spcPts val="500"/>
              </a:spcAft>
              <a:buNone/>
            </a:pPr>
            <a:r>
              <a:rPr>
                <a:latin typeface="Helvetica Neue"/>
                <a:ea typeface="Helvetica Neue"/>
                <a:cs typeface="Helvetica Neue"/>
              </a:rPr>
              <a:t>Authority and confirmation</a:t>
            </a:r>
            <a:endParaRPr/>
          </a:p>
        </p:txBody>
      </p:sp>
      <p:sp>
        <p:nvSpPr>
          <p:cNvPr id="12" name="Content Placeholder 10">
            <a:extLst xmlns:a="http://schemas.openxmlformats.org/drawingml/2006/main">
              <a:ext uri="{FF2B5EF4-FFF2-40B4-BE49-F238E27FC236}">
                <a16:creationId xmlns:a16="http://schemas.microsoft.com/office/drawing/2014/main" id="{2575F3F3-5548-310C-CA8A-2BB5F4F14EC8}"/>
              </a:ext>
            </a:extLst>
          </p:cNvPr>
          <p:cNvSpPr>
            <a:spLocks xmlns:a="http://schemas.openxmlformats.org/drawingml/2006/main" noGrp="1"/>
          </p:cNvSpPr>
          <p:nvPr/>
        </p:nvSpPr>
        <p:spPr>
          <a:xfrm xmlns:a="http://schemas.openxmlformats.org/drawingml/2006/main">
            <a:off x="6972300" y="2374901"/>
            <a:ext cx="48260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500"/>
              </a:spcAft>
              <a:buFontTx/>
              <a:buNone/>
            </a:pPr>
            <a:r>
              <a:rPr sz="1600">
                <a:solidFill>
                  <a:prstClr val="black"/>
                </a:solidFill>
                <a:latin typeface="Helvetica Neue"/>
                <a:ea typeface="Helvetica Neue"/>
                <a:cs typeface="Helvetica Neue"/>
              </a:rPr>
              <a:t>Teaching and Learning, instructors, students, IT/AV, privacy and security, accessibility, Finance and Procurement.</a:t>
            </a:r>
          </a:p>
        </p:txBody>
      </p:sp>
      <p:sp>
        <p:nvSpPr>
          <p:cNvPr id="15" name="Content Placeholder 10">
            <a:extLst xmlns:a="http://schemas.openxmlformats.org/drawingml/2006/main">
              <a:ext uri="{FF2B5EF4-FFF2-40B4-BE49-F238E27FC236}">
                <a16:creationId xmlns:a16="http://schemas.microsoft.com/office/drawing/2014/main" id="{C50C3B7B-28A7-FE2B-805B-9E84EA8C0281}"/>
              </a:ext>
            </a:extLst>
          </p:cNvPr>
          <p:cNvSpPr>
            <a:spLocks xmlns:a="http://schemas.openxmlformats.org/drawingml/2006/main" noGrp="1"/>
          </p:cNvSpPr>
          <p:nvPr/>
        </p:nvSpPr>
        <p:spPr>
          <a:xfrm xmlns:a="http://schemas.openxmlformats.org/drawingml/2006/main">
            <a:off x="4851400" y="2374901"/>
            <a:ext cx="18669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500"/>
              </a:spcAft>
              <a:buFontTx/>
              <a:buNone/>
            </a:pPr>
            <a:r>
              <a:rPr sz="1600">
                <a:solidFill>
                  <a:schemeClr val="accent5">
                    <a:lumMod val="50000"/>
                  </a:schemeClr>
                </a:solidFill>
                <a:latin typeface="Helvetica Neue Medium"/>
                <a:ea typeface="Helvetica Neue Medium"/>
                <a:cs typeface="Helvetica Neue Medium"/>
              </a:rPr>
              <a:t>Stakeholders</a:t>
            </a:r>
          </a:p>
        </p:txBody>
      </p:sp>
      <p:sp>
        <p:nvSpPr>
          <p:cNvPr id="16" name="Content Placeholder 10">
            <a:extLst xmlns:a="http://schemas.openxmlformats.org/drawingml/2006/main">
              <a:ext uri="{FF2B5EF4-FFF2-40B4-BE49-F238E27FC236}">
                <a16:creationId xmlns:a16="http://schemas.microsoft.com/office/drawing/2014/main" id="{A989BD75-DE8D-B290-9745-1D9E8821A8C5}"/>
              </a:ext>
            </a:extLst>
          </p:cNvPr>
          <p:cNvSpPr>
            <a:spLocks xmlns:a="http://schemas.openxmlformats.org/drawingml/2006/main" noGrp="1"/>
          </p:cNvSpPr>
          <p:nvPr/>
        </p:nvSpPr>
        <p:spPr>
          <a:xfrm xmlns:a="http://schemas.openxmlformats.org/drawingml/2006/main">
            <a:off x="6972300" y="3365501"/>
            <a:ext cx="48260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500"/>
              </a:spcAft>
              <a:buFontTx/>
              <a:buNone/>
            </a:pPr>
            <a:r>
              <a:rPr sz="1600">
                <a:solidFill>
                  <a:prstClr val="black"/>
                </a:solidFill>
                <a:latin typeface="Helvetica Neue"/>
                <a:ea typeface="Helvetica Neue"/>
                <a:cs typeface="Helvetica Neue"/>
              </a:rPr>
              <a:t>Feedback, delay, incompatible devices, privacy misuse and low adoption. Test rooms, train users and retain a fallback.</a:t>
            </a:r>
          </a:p>
        </p:txBody>
      </p:sp>
      <p:sp>
        <p:nvSpPr>
          <p:cNvPr id="17" name="Content Placeholder 10">
            <a:extLst xmlns:a="http://schemas.openxmlformats.org/drawingml/2006/main">
              <a:ext uri="{FF2B5EF4-FFF2-40B4-BE49-F238E27FC236}">
                <a16:creationId xmlns:a16="http://schemas.microsoft.com/office/drawing/2014/main" id="{E53F591C-9E43-179D-176D-24989B8B7303}"/>
              </a:ext>
            </a:extLst>
          </p:cNvPr>
          <p:cNvSpPr>
            <a:spLocks xmlns:a="http://schemas.openxmlformats.org/drawingml/2006/main" noGrp="1"/>
          </p:cNvSpPr>
          <p:nvPr/>
        </p:nvSpPr>
        <p:spPr>
          <a:xfrm xmlns:a="http://schemas.openxmlformats.org/drawingml/2006/main">
            <a:off x="4851400" y="3365501"/>
            <a:ext cx="18669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500"/>
              </a:spcAft>
              <a:buFontTx/>
              <a:buNone/>
            </a:pPr>
            <a:r>
              <a:rPr sz="1600">
                <a:solidFill>
                  <a:schemeClr val="accent5">
                    <a:lumMod val="50000"/>
                  </a:schemeClr>
                </a:solidFill>
                <a:latin typeface="Helvetica Neue Medium"/>
                <a:ea typeface="Helvetica Neue Medium"/>
                <a:cs typeface="Helvetica Neue Medium"/>
              </a:rPr>
              <a:t>Initial risks</a:t>
            </a:r>
          </a:p>
        </p:txBody>
      </p:sp>
      <p:sp>
        <p:nvSpPr>
          <p:cNvPr id="18" name="Content Placeholder 10">
            <a:extLst xmlns:a="http://schemas.openxmlformats.org/drawingml/2006/main">
              <a:ext uri="{FF2B5EF4-FFF2-40B4-BE49-F238E27FC236}">
                <a16:creationId xmlns:a16="http://schemas.microsoft.com/office/drawing/2014/main" id="{A7B38CBA-379D-8AEA-4C18-49046133E7A5}"/>
              </a:ext>
            </a:extLst>
          </p:cNvPr>
          <p:cNvSpPr>
            <a:spLocks xmlns:a="http://schemas.openxmlformats.org/drawingml/2006/main" noGrp="1"/>
          </p:cNvSpPr>
          <p:nvPr/>
        </p:nvSpPr>
        <p:spPr>
          <a:xfrm xmlns:a="http://schemas.openxmlformats.org/drawingml/2006/main">
            <a:off x="6972300" y="4356101"/>
            <a:ext cx="48260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500"/>
              </a:spcAft>
              <a:buFontTx/>
              <a:buNone/>
            </a:pPr>
            <a:r>
              <a:rPr sz="1600">
                <a:solidFill>
                  <a:prstClr val="black"/>
                </a:solidFill>
                <a:latin typeface="Helvetica Neue"/>
                <a:ea typeface="Helvetica Neue"/>
                <a:cs typeface="Helvetica Neue"/>
              </a:rPr>
              <a:t>Stable Wi-Fi, speakers, compatible phones and available reviewers. Proposed limits: 14 weeks, three rooms, AED 60,000.</a:t>
            </a:r>
          </a:p>
        </p:txBody>
      </p:sp>
      <p:sp>
        <p:nvSpPr>
          <p:cNvPr id="19" name="Content Placeholder 10">
            <a:extLst xmlns:a="http://schemas.openxmlformats.org/drawingml/2006/main">
              <a:ext uri="{FF2B5EF4-FFF2-40B4-BE49-F238E27FC236}">
                <a16:creationId xmlns:a16="http://schemas.microsoft.com/office/drawing/2014/main" id="{C558135D-EC8F-1FA0-D966-C8D4FA20ED2A}"/>
              </a:ext>
            </a:extLst>
          </p:cNvPr>
          <p:cNvSpPr>
            <a:spLocks xmlns:a="http://schemas.openxmlformats.org/drawingml/2006/main" noGrp="1"/>
          </p:cNvSpPr>
          <p:nvPr/>
        </p:nvSpPr>
        <p:spPr>
          <a:xfrm xmlns:a="http://schemas.openxmlformats.org/drawingml/2006/main">
            <a:off x="4851400" y="4356101"/>
            <a:ext cx="18669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500"/>
              </a:spcAft>
              <a:buFontTx/>
              <a:buNone/>
            </a:pPr>
            <a:r>
              <a:rPr sz="1600">
                <a:solidFill>
                  <a:schemeClr val="accent5">
                    <a:lumMod val="50000"/>
                  </a:schemeClr>
                </a:solidFill>
                <a:latin typeface="Helvetica Neue Medium"/>
                <a:ea typeface="Helvetica Neue Medium"/>
                <a:cs typeface="Helvetica Neue Medium"/>
              </a:rPr>
              <a:t>Assumptions</a:t>
            </a:r>
          </a:p>
        </p:txBody>
      </p:sp>
      <p:sp>
        <p:nvSpPr>
          <p:cNvPr id="20" name="Content Placeholder 10">
            <a:extLst xmlns:a="http://schemas.openxmlformats.org/drawingml/2006/main">
              <a:ext uri="{FF2B5EF4-FFF2-40B4-BE49-F238E27FC236}">
                <a16:creationId xmlns:a16="http://schemas.microsoft.com/office/drawing/2014/main" id="{59682F0D-6358-B00F-89D9-1AC37090297F}"/>
              </a:ext>
            </a:extLst>
          </p:cNvPr>
          <p:cNvSpPr>
            <a:spLocks xmlns:a="http://schemas.openxmlformats.org/drawingml/2006/main" noGrp="1"/>
          </p:cNvSpPr>
          <p:nvPr/>
        </p:nvSpPr>
        <p:spPr>
          <a:xfrm xmlns:a="http://schemas.openxmlformats.org/drawingml/2006/main">
            <a:off x="6972300" y="5359401"/>
            <a:ext cx="48260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500"/>
              </a:spcAft>
              <a:buFontTx/>
              <a:buNone/>
            </a:pPr>
            <a:r>
              <a:rPr sz="1600">
                <a:solidFill>
                  <a:prstClr val="black"/>
                </a:solidFill>
                <a:latin typeface="Helvetica Neue"/>
                <a:ea typeface="Helvetica Neue"/>
                <a:cs typeface="Helvetica Neue"/>
              </a:rPr>
              <a:t>Approved ClassMic A2/B2, role appointments, dates, rooms and evaluation method. Genuine brainstorming photos are pending.</a:t>
            </a:r>
          </a:p>
        </p:txBody>
      </p:sp>
      <p:sp>
        <p:nvSpPr>
          <p:cNvPr id="21" name="Content Placeholder 10">
            <a:extLst xmlns:a="http://schemas.openxmlformats.org/drawingml/2006/main">
              <a:ext uri="{FF2B5EF4-FFF2-40B4-BE49-F238E27FC236}">
                <a16:creationId xmlns:a16="http://schemas.microsoft.com/office/drawing/2014/main" id="{858787E0-CB4B-BCAC-702A-ECD3032DFC33}"/>
              </a:ext>
            </a:extLst>
          </p:cNvPr>
          <p:cNvSpPr>
            <a:spLocks xmlns:a="http://schemas.openxmlformats.org/drawingml/2006/main" noGrp="1"/>
          </p:cNvSpPr>
          <p:nvPr/>
        </p:nvSpPr>
        <p:spPr>
          <a:xfrm xmlns:a="http://schemas.openxmlformats.org/drawingml/2006/main">
            <a:off x="4851400" y="5359401"/>
            <a:ext cx="18669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500"/>
              </a:spcAft>
              <a:buFontTx/>
              <a:buNone/>
            </a:pPr>
            <a:r>
              <a:rPr sz="1600">
                <a:solidFill>
                  <a:schemeClr val="accent5">
                    <a:lumMod val="50000"/>
                  </a:schemeClr>
                </a:solidFill>
                <a:latin typeface="Helvetica Neue Medium"/>
                <a:ea typeface="Helvetica Neue Medium"/>
                <a:cs typeface="Helvetica Neue Medium"/>
              </a:rPr>
              <a:t>To confirm</a:t>
            </a:r>
          </a:p>
        </p:txBody>
      </p:sp>
      <p:sp>
        <p:nvSpPr>
          <p:cNvPr id="3" name="Google Shape;534;p58">
            <a:extLst xmlns:a="http://schemas.openxmlformats.org/drawingml/2006/main">
              <a:ext uri="{FF2B5EF4-FFF2-40B4-BE49-F238E27FC236}">
                <a16:creationId xmlns:a16="http://schemas.microsoft.com/office/drawing/2014/main" id="{982CDA0F-E73C-7EBB-EE08-FECCE69C5189}"/>
              </a:ext>
            </a:extLst>
          </p:cNvPr>
          <p:cNvSpPr>
            <a:spLocks xmlns:a="http://schemas.openxmlformats.org/drawingml/2006/main" noGrp="1"/>
          </p:cNvSpPr>
          <p:nvPr/>
        </p:nvSpPr>
        <p:spPr>
          <a:xfrm xmlns:a="http://schemas.openxmlformats.org/drawingml/2006/main">
            <a:off x="393700" y="2374901"/>
            <a:ext cx="3568700" cy="361949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14000"/>
              </a:lnSpc>
              <a:spcBef>
                <a:spcPts val="0"/>
              </a:spcBef>
              <a:spcAft>
                <a:spcPts val="850"/>
              </a:spcAft>
              <a:buFont typeface="Arial"/>
              <a:buNone/>
            </a:pPr>
            <a:r>
              <a:rPr sz="1800">
                <a:latin typeface="Helvetica Neue"/>
                <a:ea typeface="Helvetica Neue"/>
                <a:cs typeface="Helvetica Neue"/>
              </a:rPr>
              <a:t>Proposed leadership</a:t>
            </a:r>
          </a:p>
          <a:p xmlns:a="http://schemas.openxmlformats.org/drawingml/2006/main">
            <a:pPr marL="0" lvl="0" indent="0">
              <a:lnSpc>
                <a:spcPct val="114000"/>
              </a:lnSpc>
              <a:spcBef>
                <a:spcPts val="0"/>
              </a:spcBef>
              <a:spcAft>
                <a:spcPts val="500"/>
              </a:spcAft>
              <a:buFont typeface="Arial"/>
              <a:buNone/>
            </a:pPr>
            <a:r>
              <a:rPr sz="1800">
                <a:latin typeface="Helvetica Neue"/>
                <a:ea typeface="Helvetica Neue"/>
                <a:cs typeface="Helvetica Neue"/>
              </a:rPr>
              <a:t>Sponsor: Dean of Academic Affairs.
Project manager: Nurtore Arynuruly.
Technical lead: Temiko Machavariani.</a:t>
            </a:r>
          </a:p>
          <a:p xmlns:a="http://schemas.openxmlformats.org/drawingml/2006/main">
            <a:pPr marL="0" lvl="0" indent="0">
              <a:lnSpc>
                <a:spcPct val="114000"/>
              </a:lnSpc>
              <a:spcBef>
                <a:spcPts val="0"/>
              </a:spcBef>
              <a:spcAft>
                <a:spcPts val="500"/>
              </a:spcAft>
              <a:buNone/>
            </a:pPr>
            <a:r>
              <a:rPr sz="1800">
                <a:latin typeface="Helvetica Neue"/>
                <a:ea typeface="Helvetica Neue"/>
                <a:cs typeface="Helvetica Neue"/>
              </a:rPr>
              <a:t>On approval, the PM manages daily work within agreed limits. The sponsor approves material changes. Control owners approve readiness.</a:t>
            </a:r>
          </a:p>
        </p:txBody>
      </p:sp>
      <p:sp>
        <p:nvSpPr>
          <p:cNvPr id="2" name="Footer Placeholder 1">
            <a:extLst xmlns:a="http://schemas.openxmlformats.org/drawingml/2006/main">
              <a:ext uri="{FF2B5EF4-FFF2-40B4-BE49-F238E27FC236}">
                <a16:creationId xmlns:a16="http://schemas.microsoft.com/office/drawing/2014/main" id="{B4523B68-CB58-F426-D824-531128F4CB92}"/>
              </a:ext>
            </a:extLst>
          </p:cNvPr>
          <p:cNvSpPr>
            <a:spLocks xmlns:a="http://schemas.openxmlformats.org/drawingml/2006/main" noGrp="1"/>
          </p:cNvSpPr>
          <p:nvPr/>
        </p:nvSpPr>
        <p:spPr>
          <a:xfrm xmlns:a="http://schemas.openxmlformats.org/drawingml/2006/main">
            <a:off x="393700" y="6330000"/>
            <a:ext cx="10600000" cy="320000"/>
          </a:xfrm>
        </p:spPr>
        <p:txBody>
          <a:bodyPr xmlns:a="http://schemas.openxmlformats.org/drawingml/2006/main">
            <a:noAutofit/>
          </a:bodyPr>
          <a:lstStyle xmlns:a="http://schemas.openxmlformats.org/drawingml/2006/main"/>
          <a:p xmlns:a="http://schemas.openxmlformats.org/drawingml/2006/main">
            <a:pPr marL="0" lvl="0" indent="0">
              <a:spcBef>
                <a:spcPts val="0"/>
              </a:spcBef>
              <a:spcAft>
                <a:spcPts val="500"/>
              </a:spcAft>
              <a:buNone/>
            </a:pPr>
            <a:r>
              <a:rPr sz="1200">
                <a:latin typeface="Helvetica Neue"/>
                <a:ea typeface="Helvetica Neue"/>
                <a:cs typeface="Helvetica Neue"/>
              </a:rPr>
              <a:t>The available CampusCrew business case is for a different project. ClassMic approval is unverified.</a:t>
            </a:r>
            <a:endParaRPr sz="1100"/>
          </a:p>
        </p:txBody>
      </p:sp>
    </p:spTree>
    <p:extLst>
      <p:ext uri="{BB962C8B-B14F-4D97-AF65-F5344CB8AC3E}">
        <p14:creationId xmlns:p14="http://schemas.microsoft.com/office/powerpoint/2010/main" val="676116957"/>
      </p:ext>
    </p:extLst>
  </p:cSld>
</p:sld>
</file>

<file path=ppt/theme/theme1.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2026-09-09T20:09:51.1510000Z</dcterms:created>
  <dcterms:modified xsi:type="dcterms:W3CDTF">2026-09-09T20:09:51.1510000Z</dcterms:modified>
</coreProperties>
</file>