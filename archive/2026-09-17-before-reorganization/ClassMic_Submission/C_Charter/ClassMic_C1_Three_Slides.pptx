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4a204e4498411c" /><Relationship Type="http://schemas.openxmlformats.org/officeDocument/2006/relationships/extended-properties" Target="/docProps/app.xml" Id="R71db6b8279264e74" /><Relationship Type="http://schemas.openxmlformats.org/officeDocument/2006/relationships/officeDocument" Target="/ppt/presentation.xml" Id="Rda732ad252d5499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8c1bb40dfed4ec6"/>
  </p:sldMasterIdLst>
  <p:notesMasterIdLst>
    <p:notesMasterId xmlns:r="http://schemas.openxmlformats.org/officeDocument/2006/relationships" r:id="Rb84f083305a84edd"/>
  </p:notesMasterIdLst>
  <p:sldIdLst>
    <p:sldId xmlns:r="http://schemas.openxmlformats.org/officeDocument/2006/relationships" id="256" r:id="R0fb5b15a5dc54635"/>
    <p:sldId xmlns:r="http://schemas.openxmlformats.org/officeDocument/2006/relationships" id="257" r:id="R0a994fc6a2b9468d"/>
    <p:sldId xmlns:r="http://schemas.openxmlformats.org/officeDocument/2006/relationships" id="258" r:id="Rf62a7ea584644407"/>
  </p:sldIdLst>
  <p:sldSz cx="12192000" cy="6858000"/>
  <p:notesSz cx="6858000" cy="9144000"/>
  <p:embeddedFontLst>
    <p:embeddedFont>
      <p:font typeface="Inter"/>
      <p:regular xmlns:r="http://schemas.openxmlformats.org/officeDocument/2006/relationships" r:id="R7fb6ad08f99948c8"/>
      <p:bold xmlns:r="http://schemas.openxmlformats.org/officeDocument/2006/relationships" r:id="R0bf1cca2035a463d"/>
    </p:embeddedFont>
    <p:embeddedFont>
      <p:font typeface="Inter Medium"/>
      <p:regular xmlns:r="http://schemas.openxmlformats.org/officeDocument/2006/relationships" r:id="R7f8d76372ba44a8f"/>
    </p:embeddedFont>
    <p:embeddedFont>
      <p:font typeface="Inter SemiBold"/>
      <p:regular xmlns:r="http://schemas.openxmlformats.org/officeDocument/2006/relationships" r:id="Re8c74f72fa114d85"/>
      <p:bold xmlns:r="http://schemas.openxmlformats.org/officeDocument/2006/relationships" r:id="Ra401285eadbd411a"/>
    </p:embeddedFont>
    <p:embeddedFont>
      <p:font typeface="OpenAI Sans"/>
      <p:regular xmlns:r="http://schemas.openxmlformats.org/officeDocument/2006/relationships" r:id="Rc7be3d659fe34eb5"/>
      <p:bold xmlns:r="http://schemas.openxmlformats.org/officeDocument/2006/relationships" r:id="Ra8f5daf325bd4870"/>
      <p:italic xmlns:r="http://schemas.openxmlformats.org/officeDocument/2006/relationships" r:id="Rfabb285bcb9a4a90"/>
      <p:boldItalic xmlns:r="http://schemas.openxmlformats.org/officeDocument/2006/relationships" r:id="R54d8252140654b9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3d85f6aa4be4506" /><Relationship Type="http://schemas.openxmlformats.org/officeDocument/2006/relationships/slideMaster" Target="/ppt/slideMasters/slideMaster1.xml" Id="R48c1bb40dfed4ec6" /><Relationship Type="http://schemas.openxmlformats.org/officeDocument/2006/relationships/notesMaster" Target="/ppt/notesMasters/notesMaster1.xml" Id="Rb84f083305a84edd" /><Relationship Type="http://schemas.openxmlformats.org/officeDocument/2006/relationships/presProps" Target="/ppt/presProps.xml" Id="R6ea1ab8410104977" /><Relationship Type="http://schemas.openxmlformats.org/officeDocument/2006/relationships/viewProps" Target="/ppt/viewProps.xml" Id="R7f3b448dd0634f44" /><Relationship Type="http://schemas.openxmlformats.org/officeDocument/2006/relationships/tableStyles" Target="/ppt/tableStyles.xml" Id="R89987f21a0294f97" /><Relationship Type="http://schemas.openxmlformats.org/officeDocument/2006/relationships/font" Target="/ppt/fonts/font.dat" Id="R7fb6ad08f99948c8" /><Relationship Type="http://schemas.openxmlformats.org/officeDocument/2006/relationships/font" Target="/ppt/fonts/font2.dat" Id="R0bf1cca2035a463d" /><Relationship Type="http://schemas.openxmlformats.org/officeDocument/2006/relationships/font" Target="/ppt/fonts/font3.dat" Id="R7f8d76372ba44a8f" /><Relationship Type="http://schemas.openxmlformats.org/officeDocument/2006/relationships/font" Target="/ppt/fonts/font4.dat" Id="Re8c74f72fa114d85" /><Relationship Type="http://schemas.openxmlformats.org/officeDocument/2006/relationships/font" Target="/ppt/fonts/font5.dat" Id="Ra401285eadbd411a" /><Relationship Type="http://schemas.openxmlformats.org/officeDocument/2006/relationships/font" Target="/ppt/fonts/font6.dat" Id="Rc7be3d659fe34eb5" /><Relationship Type="http://schemas.openxmlformats.org/officeDocument/2006/relationships/font" Target="/ppt/fonts/font7.dat" Id="Ra8f5daf325bd4870" /><Relationship Type="http://schemas.openxmlformats.org/officeDocument/2006/relationships/font" Target="/ppt/fonts/font8.dat" Id="Rfabb285bcb9a4a90" /><Relationship Type="http://schemas.openxmlformats.org/officeDocument/2006/relationships/font" Target="/ppt/fonts/font9.dat" Id="R54d8252140654b93" /><Relationship Type="http://schemas.openxmlformats.org/officeDocument/2006/relationships/slide" Target="/ppt/slides/slide1.xml" Id="R0fb5b15a5dc54635" /><Relationship Type="http://schemas.openxmlformats.org/officeDocument/2006/relationships/slide" Target="/ppt/slides/slide2.xml" Id="R0a994fc6a2b9468d" /><Relationship Type="http://schemas.openxmlformats.org/officeDocument/2006/relationships/slide" Target="/ppt/slides/slide3.xml" Id="Rf62a7ea5846444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454264474647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4ea4581895469c" /><Relationship Type="http://schemas.openxmlformats.org/officeDocument/2006/relationships/notesMaster" Target="/ppt/notesMasters/notesMaster1.xml" Id="R9816b28f11d04c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7b5c6b4b5d4161" /><Relationship Type="http://schemas.openxmlformats.org/officeDocument/2006/relationships/notesMaster" Target="/ppt/notesMasters/notesMaster1.xml" Id="R0e14f28caf2c45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c38762e72f4b2d" /><Relationship Type="http://schemas.openxmlformats.org/officeDocument/2006/relationships/notesMaster" Target="/ppt/notesMasters/notesMaster1.xml" Id="Rdb729c9f254840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revised ClassMic A2, B2 and C1. The C1 LMS brief https://lms.mbzuai.ac.ae/mod/assign/view.php?id=38960 requests a draft with explicit confirmations, at most two pages and three slides. All measures are proposed. Ready-speaker trials measure time from instructor approval to audible speech. Transport delay is separate, with median and 95th percentile reported and a threshold awaiting confirmation.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C1 charter and D1-D3 plan. The course scope contains five priority stories and two one-week sprints. The earlier 14-week funded classroom pilot is outside the current course authorization. The proposed schedule requires D review by 19 September and instructor permission to start E construction before the upload area opens on 26 September.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revised C1 charter and evidence record. The course instructor is a proposed acceptance authority whose name and agreement remain unconfirmed. The team has not supplied original charter brainstorming images. Individual input is handled separately at the user request. No approval, funding, live deployment or completed testing is implied.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d5bc50b53544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c89b93a3c044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5caf24015d644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eda9b2b9dd44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8deda098ed4b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2468a19038414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b03db62db5340e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167b9dde3054c6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077da9ef2cb4652" /><Relationship Type="http://schemas.openxmlformats.org/officeDocument/2006/relationships/image" Target="/ppt/media/image.png" Id="R0e9d1443aade409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a600a5dab984c6f" /><Relationship Type="http://schemas.openxmlformats.org/officeDocument/2006/relationships/image" Target="/ppt/media/image2.png" Id="R40987ec3339c46be"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0e9d1443aade4091">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40987ec3339c46be">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e8245c0a9e4d46" /><Relationship Type="http://schemas.openxmlformats.org/officeDocument/2006/relationships/slideLayout" Target="/ppt/slideLayouts/slideLayout1.xml" Id="R2baa0b08aaf44fe1" /><Relationship Type="http://schemas.openxmlformats.org/officeDocument/2006/relationships/slideLayout" Target="/ppt/slideLayouts/slideLayout2.xml" Id="R285d241e75ca49fa" /><Relationship Type="http://schemas.openxmlformats.org/officeDocument/2006/relationships/slideLayout" Target="/ppt/slideLayouts/slideLayout3.xml" Id="R1941d08c551747d5" /><Relationship Type="http://schemas.openxmlformats.org/officeDocument/2006/relationships/slideLayout" Target="/ppt/slideLayouts/slideLayout4.xml" Id="Rf7affc9b9cc24f9d" /><Relationship Type="http://schemas.openxmlformats.org/officeDocument/2006/relationships/slideLayout" Target="/ppt/slideLayouts/slideLayout5.xml" Id="R0ac00bd0fe504b60" /><Relationship Type="http://schemas.openxmlformats.org/officeDocument/2006/relationships/slideLayout" Target="/ppt/slideLayouts/slideLayout6.xml" Id="R914493a510664821" /><Relationship Type="http://schemas.openxmlformats.org/officeDocument/2006/relationships/slideLayout" Target="/ppt/slideLayouts/slideLayout7.xml" Id="Ra56f7c59e8d2435d" /><Relationship Type="http://schemas.openxmlformats.org/officeDocument/2006/relationships/slideLayout" Target="/ppt/slideLayouts/slideLayout8.xml" Id="R3596bea92a6040f2" /><Relationship Type="http://schemas.openxmlformats.org/officeDocument/2006/relationships/slideLayout" Target="/ppt/slideLayouts/slideLayout9.xml" Id="R78897f807be04276" /><Relationship Type="http://schemas.openxmlformats.org/officeDocument/2006/relationships/slideLayout" Target="/ppt/slideLayouts/slideLayout10.xml" Id="R7cb4be53598a48a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aa0b08aaf44fe1"/>
    <p:sldLayoutId xmlns:r="http://schemas.openxmlformats.org/officeDocument/2006/relationships" id="2147483650" r:id="R285d241e75ca49fa"/>
    <p:sldLayoutId xmlns:r="http://schemas.openxmlformats.org/officeDocument/2006/relationships" id="2147483651" r:id="R1941d08c551747d5"/>
    <p:sldLayoutId xmlns:r="http://schemas.openxmlformats.org/officeDocument/2006/relationships" id="2147483652" r:id="Rf7affc9b9cc24f9d"/>
    <p:sldLayoutId xmlns:r="http://schemas.openxmlformats.org/officeDocument/2006/relationships" id="2147483653" r:id="R0ac00bd0fe504b60"/>
    <p:sldLayoutId xmlns:r="http://schemas.openxmlformats.org/officeDocument/2006/relationships" id="2147483654" r:id="R914493a510664821"/>
    <p:sldLayoutId xmlns:r="http://schemas.openxmlformats.org/officeDocument/2006/relationships" id="2147483655" r:id="Ra56f7c59e8d2435d"/>
    <p:sldLayoutId xmlns:r="http://schemas.openxmlformats.org/officeDocument/2006/relationships" id="2147483656" r:id="R3596bea92a6040f2"/>
    <p:sldLayoutId xmlns:r="http://schemas.openxmlformats.org/officeDocument/2006/relationships" id="2147483657" r:id="R78897f807be04276"/>
    <p:sldLayoutId xmlns:r="http://schemas.openxmlformats.org/officeDocument/2006/relationships" id="2147483658" r:id="R7cb4be53598a48a3"/>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856926e64e489b" /><Relationship Type="http://schemas.openxmlformats.org/officeDocument/2006/relationships/notesSlide" Target="/ppt/notesSlides/notesSlide1.xml" Id="R3de81d94477c4c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e4ac659f6dec469b" /><Relationship Type="http://schemas.openxmlformats.org/officeDocument/2006/relationships/notesSlide" Target="/ppt/notesSlides/notesSlide2.xml" Id="Rea79196cbb5a43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e7a777f024f4f75" /><Relationship Type="http://schemas.openxmlformats.org/officeDocument/2006/relationships/notesSlide" Target="/ppt/notesSlides/notesSlide3.xml" Id="R4de1cdbfd2d84c5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1</a:t>
            </a:r>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lvl="0" indent="0">
              <a:spcBef>
                <a:spcPts val="0"/>
              </a:spcBef>
              <a:spcAft>
                <a:spcPts val="500"/>
              </a:spcAft>
              <a:buNone/>
            </a:pPr>
            <a:r>
              <a:rPr sz="3000">
                <a:latin typeface="Helvetica Neue"/>
                <a:ea typeface="Helvetica Neue"/>
                <a:cs typeface="Helvetica Neue"/>
              </a:rPr>
              <a:t>ClassMic project charter</a:t>
            </a:r>
            <a:endParaRP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4000"/>
              </a:lnSpc>
              <a:spcBef>
                <a:spcPts val="0"/>
              </a:spcBef>
              <a:spcAft>
                <a:spcPts val="850"/>
              </a:spcAft>
              <a:buNone/>
            </a:pPr>
            <a:r>
              <a:rPr sz="1800">
                <a:solidFill>
                  <a:prstClr val="black"/>
                </a:solidFill>
                <a:latin typeface="Helvetica Neue Medium"/>
                <a:ea typeface="Helvetica Neue Medium"/>
                <a:cs typeface="Helvetica Neue Medium"/>
              </a:rPr>
              <a:t>C1  Draft course authorization</a:t>
            </a:r>
          </a:p>
          <a:p xmlns:a="http://schemas.openxmlformats.org/drawingml/2006/main">
            <a:pPr marL="0" lvl="0" indent="0">
              <a:lnSpc>
                <a:spcPct val="114000"/>
              </a:lnSpc>
              <a:spcBef>
                <a:spcPts val="0"/>
              </a:spcBef>
              <a:spcAft>
                <a:spcPts val="500"/>
              </a:spcAft>
              <a:buNone/>
            </a:pPr>
            <a:r>
              <a:rPr sz="1600">
                <a:solidFill>
                  <a:prstClr val="black"/>
                </a:solidFill>
                <a:latin typeface="Helvetica Neue"/>
                <a:ea typeface="Helvetica Neue"/>
                <a:cs typeface="Helvetica Neue"/>
              </a:rPr>
              <a:t>Test student phones as instructor-controlled microphones. Revised A2 and B2 support a limited prototype, controlled evaluation and a later pilot decision.</a:t>
            </a:r>
          </a:p>
        </p:txBody>
      </p:sp>
      <p:graphicFrame>
        <p:nvGraphicFramePr>
          <p:cNvPr id="538" name="Google Shape;644;p93"/>
          <p:cNvGraphicFramePr/>
          <p:nvPr/>
        </p:nvGraphicFramePr>
        <p:xfrm>
          <a:off xmlns:a="http://schemas.openxmlformats.org/drawingml/2006/main" x="393700" y="2251080"/>
          <a:ext xmlns:a="http://schemas.openxmlformats.org/drawingml/2006/main" cx="11404599" cy="3932614"/>
        </p:xfrm>
        <a:graphic xmlns:a="http://schemas.openxmlformats.org/drawingml/2006/main">
          <a:graphicData uri="http://schemas.openxmlformats.org/drawingml/2006/table">
            <a:tbl>
              <a:tblPr firstRow="1"/>
              <a:tblGrid>
                <a:gridCol w="2600000"/>
                <a:gridCol w="5300000"/>
                <a:gridCol w="3504599"/>
              </a:tblGrid>
              <a:tr h="786523">
                <a:tc>
                  <a:txBody>
                    <a:bodyPr/>
                    <a:lstStyle/>
                    <a:p>
                      <a:pPr marL="0" lvl="0" indent="0" algn="l">
                        <a:lnSpc>
                          <a:spcPct val="105000"/>
                        </a:lnSpc>
                        <a:spcBef>
                          <a:spcPts val="0"/>
                        </a:spcBef>
                        <a:spcAft>
                          <a:spcPts val="0"/>
                        </a:spcAft>
                        <a:buNone/>
                      </a:pPr>
                      <a:r>
                        <a:rPr sz="1700" b="1">
                          <a:solidFill>
                            <a:schemeClr val="accent5">
                              <a:lumMod val="50000"/>
                            </a:schemeClr>
                          </a:solidFill>
                          <a:latin typeface="Helvetica Neue Medium"/>
                          <a:ea typeface="Helvetica Neue Medium"/>
                          <a:cs typeface="Helvetica Neue Medium"/>
                        </a:rPr>
                        <a:t>Objective</a:t>
                      </a:r>
                      <a:endParaRPr sz="1400" b="1">
                        <a:solidFill>
                          <a:schemeClr val="accent5">
                            <a:lumMod val="50000"/>
                          </a:schemeClr>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Clr>
                          <a:srgbClr val="000000"/>
                        </a:buClr>
                        <a:buSzPts val="1200"/>
                        <a:buFont typeface="Arial"/>
                        <a:buNone/>
                      </a:pPr>
                      <a:r>
                        <a:rPr sz="1700" b="1">
                          <a:solidFill>
                            <a:schemeClr val="accent5">
                              <a:lumMod val="50000"/>
                            </a:schemeClr>
                          </a:solidFill>
                          <a:latin typeface="Helvetica Neue Medium"/>
                          <a:ea typeface="Helvetica Neue Medium"/>
                          <a:cs typeface="Helvetica Neue Medium"/>
                        </a:rPr>
                        <a:t>Proposed target</a:t>
                      </a:r>
                      <a:endParaRPr sz="1400" b="1">
                        <a:solidFill>
                          <a:schemeClr val="accent5">
                            <a:lumMod val="50000"/>
                          </a:schemeClr>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1">
                          <a:solidFill>
                            <a:schemeClr val="accent5">
                              <a:lumMod val="50000"/>
                            </a:schemeClr>
                          </a:solidFill>
                          <a:latin typeface="Helvetica Neue Medium"/>
                          <a:ea typeface="Helvetica Neue Medium"/>
                          <a:cs typeface="Helvetica Neue Medium"/>
                        </a:rPr>
                        <a:t>Evidence</a:t>
                      </a:r>
                      <a:endParaRPr sz="1400" b="1">
                        <a:solidFill>
                          <a:schemeClr val="accent5">
                            <a:lumMod val="50000"/>
                          </a:schemeClr>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r>
              <a:tr h="786523">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O1  Complete scope</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Five stories and all Must checks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Acceptance record</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r>
              <a:tr h="786523">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O2  Practical workflow</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9/10 setups within 2 min
27/30 speaking trials within 3 sec</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Scripted timed trials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786523">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O3  Audibility</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At least 75% positive feedback
At least 5 volunteer reviewers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Counts and sample limits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786523">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O4  Control and privacy</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No unauthorized transmission
No saved audio or transcripts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Misuse and storage checks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bl>
          </a:graphicData>
        </a:graphic>
      </p:graphicFrame>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Targets and approvals require confirmation. Report transport delay separately from speaking activation.</a:t>
            </a:r>
            <a:endParaRPr sz="1100"/>
          </a:p>
        </p:txBody>
      </p:sp>
    </p:spTree>
    <p:extLst>
      <p:ext uri="{BB962C8B-B14F-4D97-AF65-F5344CB8AC3E}">
        <p14:creationId xmlns:p14="http://schemas.microsoft.com/office/powerpoint/2010/main" val="32985487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850"/>
              </a:spcAft>
              <a:buClrTx/>
              <a:buSzTx/>
              <a:buFontTx/>
              <a:buNone/>
            </a:pPr>
            <a:r>
              <a:rPr sz="2400" b="0" i="0" u="none" cap="none" spc="0">
                <a:ln>
                  <a:noFill/>
                </a:ln>
                <a:solidFill>
                  <a:prstClr val="black"/>
                </a:solidFill>
                <a:latin typeface="Helvetica Neue Medium"/>
                <a:ea typeface="Helvetica Neue Medium"/>
                <a:cs typeface="Helvetica Neue Medium"/>
              </a:rPr>
              <a:t>Included scope</a:t>
            </a:r>
          </a:p>
          <a:p xmlns:a="http://schemas.openxmlformats.org/drawingml/2006/main">
            <a:pPr marL="0" marR="0" lvl="0" indent="0" algn="l" defTabSz="914400">
              <a:lnSpc>
                <a:spcPct val="100000"/>
              </a:lnSpc>
              <a:spcBef>
                <a:spcPts val="0"/>
              </a:spcBef>
              <a:spcAft>
                <a:spcPts val="500"/>
              </a:spcAft>
              <a:buClrTx/>
              <a:buSzTx/>
              <a:buFontTx/>
              <a:buNone/>
            </a:pPr>
            <a:r>
              <a:rPr sz="1800" b="0" i="0" u="none" cap="none" spc="0">
                <a:ln>
                  <a:noFill/>
                </a:ln>
                <a:solidFill>
                  <a:prstClr val="black"/>
                </a:solidFill>
                <a:latin typeface="Helvetica Neue"/>
                <a:ea typeface="Helvetica Neue"/>
                <a:cs typeface="Helvetica Neue"/>
              </a:rPr>
              <a:t>Temporary browser sessions, QR or code join, speaking queue, one approved phone microphone, speaker output, recovery and evaluation.</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2</a:t>
            </a:r>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850"/>
              </a:spcAft>
              <a:buClrTx/>
              <a:buSzTx/>
              <a:buFontTx/>
              <a:buNone/>
            </a:pPr>
            <a:r>
              <a:rPr sz="2400" b="0" i="0" u="none" cap="none" spc="0">
                <a:ln>
                  <a:noFill/>
                </a:ln>
                <a:solidFill>
                  <a:prstClr val="black"/>
                </a:solidFill>
                <a:latin typeface="Helvetica Neue Medium"/>
                <a:ea typeface="Helvetica Neue Medium"/>
                <a:cs typeface="Helvetica Neue Medium"/>
              </a:rPr>
              <a:t>Exclusions</a:t>
            </a:r>
          </a:p>
          <a:p xmlns:a="http://schemas.openxmlformats.org/drawingml/2006/main">
            <a:pPr marL="0" marR="0" lvl="0" indent="0" algn="l" defTabSz="914400">
              <a:lnSpc>
                <a:spcPct val="100000"/>
              </a:lnSpc>
              <a:spcBef>
                <a:spcPts val="0"/>
              </a:spcBef>
              <a:spcAft>
                <a:spcPts val="500"/>
              </a:spcAft>
              <a:buClrTx/>
              <a:buSzTx/>
              <a:buFontTx/>
              <a:buNone/>
            </a:pPr>
            <a:r>
              <a:rPr sz="1800" b="0" i="0" u="none" cap="none" spc="0">
                <a:ln>
                  <a:noFill/>
                </a:ln>
                <a:solidFill>
                  <a:prstClr val="black"/>
                </a:solidFill>
                <a:latin typeface="Helvetica Neue"/>
                <a:ea typeface="Helvetica Neue"/>
                <a:cs typeface="Helvetica Neue"/>
              </a:rPr>
              <a:t>Live teaching deployment, recording, transcripts, persistent profiles, grading, attendance, simultaneous microphones and paid production infrastructure.</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3000">
                <a:latin typeface="Helvetica Neue"/>
                <a:ea typeface="Helvetica Neue"/>
                <a:cs typeface="Helvetica Neue"/>
              </a:rPr>
              <a:t>Scope and delivery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0000"/>
              </a:lnSpc>
              <a:spcBef>
                <a:spcPts val="0"/>
              </a:spcBef>
              <a:spcAft>
                <a:spcPts val="850"/>
              </a:spcAft>
              <a:buFontTx/>
              <a:buNone/>
            </a:pPr>
            <a:r>
              <a:rPr sz="2400">
                <a:solidFill>
                  <a:prstClr val="black"/>
                </a:solidFill>
                <a:latin typeface="Helvetica Neue Medium"/>
                <a:ea typeface="Helvetica Neue Medium"/>
                <a:cs typeface="Helvetica Neue Medium"/>
              </a:rPr>
              <a:t>Requirements</a:t>
            </a:r>
          </a:p>
          <a:p xmlns:a="http://schemas.openxmlformats.org/drawingml/2006/main">
            <a:pPr marL="0" lvl="0" indent="0">
              <a:lnSpc>
                <a:spcPct val="100000"/>
              </a:lnSpc>
              <a:spcBef>
                <a:spcPts val="0"/>
              </a:spcBef>
              <a:spcAft>
                <a:spcPts val="500"/>
              </a:spcAft>
              <a:buFontTx/>
              <a:buNone/>
            </a:pPr>
            <a:r>
              <a:rPr sz="1800">
                <a:solidFill>
                  <a:prstClr val="black"/>
                </a:solidFill>
                <a:latin typeface="Helvetica Neue"/>
                <a:ea typeface="Helvetica Neue"/>
                <a:cs typeface="Helvetica Neue"/>
              </a:rPr>
              <a:t>Explicit microphone permission, instructor approval and push to talk. Mute, disconnect and end must stop audio. Preserve an alternative speaking route.</a:t>
            </a:r>
            <a:endParaRPr sz="1800">
              <a:solidFill>
                <a:prstClr val="black"/>
              </a:solidFill>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0000"/>
              </a:lnSpc>
              <a:spcBef>
                <a:spcPts val="0"/>
              </a:spcBef>
              <a:spcAft>
                <a:spcPts val="850"/>
              </a:spcAft>
              <a:buFontTx/>
              <a:buNone/>
            </a:pPr>
            <a:r>
              <a:rPr sz="2400">
                <a:solidFill>
                  <a:prstClr val="black"/>
                </a:solidFill>
                <a:latin typeface="Helvetica Neue Medium"/>
                <a:ea typeface="Helvetica Neue Medium"/>
                <a:cs typeface="Helvetica Neue Medium"/>
              </a:rPr>
              <a:t>Milestones</a:t>
            </a:r>
          </a:p>
          <a:p xmlns:a="http://schemas.openxmlformats.org/drawingml/2006/main">
            <a:pPr marL="0" lvl="0" indent="0">
              <a:lnSpc>
                <a:spcPct val="100000"/>
              </a:lnSpc>
              <a:spcBef>
                <a:spcPts val="0"/>
              </a:spcBef>
              <a:spcAft>
                <a:spcPts val="500"/>
              </a:spcAft>
              <a:buFontTx/>
              <a:buNone/>
            </a:pPr>
            <a:r>
              <a:rPr sz="1800">
                <a:solidFill>
                  <a:prstClr val="black"/>
                </a:solidFill>
                <a:latin typeface="Helvetica Neue"/>
                <a:ea typeface="Helvetica Neue"/>
                <a:cs typeface="Helvetica Neue"/>
              </a:rPr>
              <a:t>D review by 19 September. Sprint 1 on 20–26 September. Sprint 2 on 27 September–3 October. Closeout and final presentation on 4–9 October.</a:t>
            </a:r>
            <a:endParaRPr sz="1800">
              <a:solidFill>
                <a:prstClr val="black"/>
              </a:solidFill>
              <a:latin typeface="Helvetica Neue"/>
              <a:ea typeface="Helvetica Neue"/>
              <a:cs typeface="Helvetica Neue"/>
            </a:endParaRP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Two weekly construction sprints. The proposed early start needs instructor confirmation.</a:t>
            </a:r>
            <a:endParaRPr sz="1100"/>
          </a:p>
        </p:txBody>
      </p:sp>
    </p:spTree>
    <p:extLst>
      <p:ext uri="{BB962C8B-B14F-4D97-AF65-F5344CB8AC3E}">
        <p14:creationId xmlns:p14="http://schemas.microsoft.com/office/powerpoint/2010/main" val="3601454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3</a:t>
            </a:r>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7835900" cy="10474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lvl="0" indent="0">
              <a:spcBef>
                <a:spcPts val="0"/>
              </a:spcBef>
              <a:spcAft>
                <a:spcPts val="500"/>
              </a:spcAft>
              <a:buNone/>
            </a:pPr>
            <a:r>
              <a:rPr sz="3000">
                <a:latin typeface="Helvetica Neue"/>
                <a:ea typeface="Helvetica Neue"/>
                <a:cs typeface="Helvetica Neue"/>
              </a:rPr>
              <a:t>Authority and open decisions</a:t>
            </a:r>
            <a:endParaRP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Student speakers and listeners, instructors and the project team. Technical and accessibility reviewers participate if available.</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850"/>
              </a:spcAft>
              <a:buFontTx/>
              <a:buNone/>
            </a:pPr>
            <a:r>
              <a:rPr sz="1600">
                <a:solidFill>
                  <a:schemeClr val="accent5">
                    <a:lumMod val="50000"/>
                  </a:schemeClr>
                </a:solidFill>
                <a:latin typeface="Helvetica Neue Medium"/>
                <a:ea typeface="Helvetica Neue Medium"/>
                <a:cs typeface="Helvetica Neue Medium"/>
              </a:rPr>
              <a:t>Stakeholders</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Feedback, delay, incompatible devices, unwanted transmission and limited time. Test early and retain a fallback.</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850"/>
              </a:spcAft>
              <a:buFontTx/>
              <a:buNone/>
            </a:pPr>
            <a:r>
              <a:rPr sz="1600">
                <a:solidFill>
                  <a:schemeClr val="accent5">
                    <a:lumMod val="50000"/>
                  </a:schemeClr>
                </a:solidFill>
                <a:latin typeface="Helvetica Neue Medium"/>
                <a:ea typeface="Helvetica Neue Medium"/>
                <a:cs typeface="Helvetica Neue Medium"/>
              </a:rPr>
              <a:t>Initial risks</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Proposed 100 student hours and AED 0 new cash spending through reuse. Confirm equipment, volunteers and capacity.</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850"/>
              </a:spcAft>
              <a:buFontTx/>
              <a:buNone/>
            </a:pPr>
            <a:r>
              <a:rPr sz="1600">
                <a:solidFill>
                  <a:schemeClr val="accent5">
                    <a:lumMod val="50000"/>
                  </a:schemeClr>
                </a:solidFill>
                <a:latin typeface="Helvetica Neue Medium"/>
                <a:ea typeface="Helvetica Neue Medium"/>
                <a:cs typeface="Helvetica Neue Medium"/>
              </a:rPr>
              <a:t>Resources</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A2/B2/C1 approval, roles, dates, audio threshold and genuine brainstorming evidence. Individual inputs are handled separately.</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850"/>
              </a:spcAft>
              <a:buFontTx/>
              <a:buNone/>
            </a:pPr>
            <a:r>
              <a:rPr sz="1600">
                <a:solidFill>
                  <a:schemeClr val="accent5">
                    <a:lumMod val="50000"/>
                  </a:schemeClr>
                </a:solidFill>
                <a:latin typeface="Helvetica Neue Medium"/>
                <a:ea typeface="Helvetica Neue Medium"/>
                <a:cs typeface="Helvetica Neue Medium"/>
              </a:rPr>
              <a:t>To confirm</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4000"/>
              </a:lnSpc>
              <a:spcBef>
                <a:spcPts val="0"/>
              </a:spcBef>
              <a:spcAft>
                <a:spcPts val="850"/>
              </a:spcAft>
              <a:buFont typeface="Arial"/>
              <a:buNone/>
            </a:pPr>
            <a:r>
              <a:rPr sz="1800">
                <a:latin typeface="Helvetica Neue Medium"/>
                <a:ea typeface="Helvetica Neue Medium"/>
                <a:cs typeface="Helvetica Neue Medium"/>
              </a:rPr>
              <a:t>Proposed responsibilities</a:t>
            </a:r>
          </a:p>
          <a:p xmlns:a="http://schemas.openxmlformats.org/drawingml/2006/main">
            <a:pPr marL="0" lvl="0" indent="0">
              <a:lnSpc>
                <a:spcPct val="114000"/>
              </a:lnSpc>
              <a:spcBef>
                <a:spcPts val="0"/>
              </a:spcBef>
              <a:spcAft>
                <a:spcPts val="500"/>
              </a:spcAft>
              <a:buFont typeface="Arial"/>
              <a:buNone/>
            </a:pPr>
            <a:r>
              <a:rPr sz="1800">
                <a:latin typeface="Helvetica Neue"/>
                <a:ea typeface="Helvetica Neue"/>
                <a:cs typeface="Helvetica Neue"/>
              </a:rPr>
              <a:t>Course instructor: acceptance authority.
Nurtore Arynuruly: project manager.
Temiko Machavariani: technical lead.</a:t>
            </a:r>
          </a:p>
          <a:p xmlns:a="http://schemas.openxmlformats.org/drawingml/2006/main">
            <a:pPr marL="0" lvl="0" indent="0">
              <a:lnSpc>
                <a:spcPct val="114000"/>
              </a:lnSpc>
              <a:spcBef>
                <a:spcPts val="0"/>
              </a:spcBef>
              <a:spcAft>
                <a:spcPts val="500"/>
              </a:spcAft>
              <a:buNone/>
            </a:pPr>
            <a:r>
              <a:rPr sz="1700">
                <a:latin typeface="Helvetica Neue"/>
                <a:ea typeface="Helvetica Neue"/>
                <a:cs typeface="Helvetica Neue"/>
              </a:rPr>
              <a:t>The PM coordinates daily work. The instructor reviews material scope and schedule changes. No university spending authority is implied.</a:t>
            </a:r>
          </a:p>
        </p:txBody>
      </p:sp>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No live deployment or paid commitment is authorized by this draft.</a:t>
            </a:r>
            <a:endParaRPr sz="1100"/>
          </a:p>
        </p:txBody>
      </p:sp>
    </p:spTree>
    <p:extLst>
      <p:ext uri="{BB962C8B-B14F-4D97-AF65-F5344CB8AC3E}">
        <p14:creationId xmlns:p14="http://schemas.microsoft.com/office/powerpoint/2010/main" val="676116957"/>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2026-09-09T20:24:50.9660000Z</dcterms:created>
  <dcterms:modified xsi:type="dcterms:W3CDTF">2026-09-09T20:24:50.9660000Z</dcterms:modified>
</coreProperties>
</file>