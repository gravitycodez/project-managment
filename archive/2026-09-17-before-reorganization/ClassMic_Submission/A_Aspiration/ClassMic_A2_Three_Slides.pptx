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e4af5c618e4a40" /><Relationship Type="http://schemas.openxmlformats.org/officeDocument/2006/relationships/extended-properties" Target="/docProps/app.xml" Id="Rea81e420545f482b" /><Relationship Type="http://schemas.openxmlformats.org/officeDocument/2006/relationships/officeDocument" Target="/ppt/presentation.xml" Id="R22877a1c23984e0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e9439c567504d13"/>
  </p:sldMasterIdLst>
  <p:notesMasterIdLst>
    <p:notesMasterId xmlns:r="http://schemas.openxmlformats.org/officeDocument/2006/relationships" r:id="R1544c0ab87d74aac"/>
  </p:notesMasterIdLst>
  <p:sldIdLst>
    <p:sldId xmlns:r="http://schemas.openxmlformats.org/officeDocument/2006/relationships" id="256" r:id="Rd4aeca0ba2a74c8f"/>
    <p:sldId xmlns:r="http://schemas.openxmlformats.org/officeDocument/2006/relationships" id="257" r:id="R4297ec8f4ff643eb"/>
    <p:sldId xmlns:r="http://schemas.openxmlformats.org/officeDocument/2006/relationships" id="258" r:id="R2301b45c4c6749d4"/>
  </p:sldIdLst>
  <p:sldSz cx="12192000" cy="6858000"/>
  <p:notesSz cx="6858000" cy="9144000"/>
  <p:embeddedFontLst>
    <p:embeddedFont>
      <p:font typeface="Inter"/>
      <p:regular xmlns:r="http://schemas.openxmlformats.org/officeDocument/2006/relationships" r:id="R06d4ff7365244609"/>
      <p:bold xmlns:r="http://schemas.openxmlformats.org/officeDocument/2006/relationships" r:id="R1407f4fc92b94436"/>
    </p:embeddedFont>
    <p:embeddedFont>
      <p:font typeface="Inter Medium"/>
      <p:regular xmlns:r="http://schemas.openxmlformats.org/officeDocument/2006/relationships" r:id="R64a344d2a25c4b07"/>
    </p:embeddedFont>
    <p:embeddedFont>
      <p:font typeface="Inter SemiBold"/>
      <p:regular xmlns:r="http://schemas.openxmlformats.org/officeDocument/2006/relationships" r:id="R83aa9632d6d846d7"/>
      <p:bold xmlns:r="http://schemas.openxmlformats.org/officeDocument/2006/relationships" r:id="Re2c6efba68c1475f"/>
    </p:embeddedFont>
    <p:embeddedFont>
      <p:font typeface="OpenAI Sans"/>
      <p:regular xmlns:r="http://schemas.openxmlformats.org/officeDocument/2006/relationships" r:id="R2a6230ed514548cf"/>
      <p:bold xmlns:r="http://schemas.openxmlformats.org/officeDocument/2006/relationships" r:id="R60eafb9c6508455d"/>
      <p:italic xmlns:r="http://schemas.openxmlformats.org/officeDocument/2006/relationships" r:id="Rcebe73b6dda84590"/>
      <p:boldItalic xmlns:r="http://schemas.openxmlformats.org/officeDocument/2006/relationships" r:id="R884fb6e3840c484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170bb5da7b4b6b" /><Relationship Type="http://schemas.openxmlformats.org/officeDocument/2006/relationships/slideMaster" Target="/ppt/slideMasters/slideMaster1.xml" Id="Rce9439c567504d13" /><Relationship Type="http://schemas.openxmlformats.org/officeDocument/2006/relationships/notesMaster" Target="/ppt/notesMasters/notesMaster1.xml" Id="R1544c0ab87d74aac" /><Relationship Type="http://schemas.openxmlformats.org/officeDocument/2006/relationships/presProps" Target="/ppt/presProps.xml" Id="R02d4581d8aff4898" /><Relationship Type="http://schemas.openxmlformats.org/officeDocument/2006/relationships/viewProps" Target="/ppt/viewProps.xml" Id="Rb71f44ebc8184aaf" /><Relationship Type="http://schemas.openxmlformats.org/officeDocument/2006/relationships/tableStyles" Target="/ppt/tableStyles.xml" Id="Rb9f14b3dbdb040ea" /><Relationship Type="http://schemas.openxmlformats.org/officeDocument/2006/relationships/font" Target="/ppt/fonts/font.dat" Id="R06d4ff7365244609" /><Relationship Type="http://schemas.openxmlformats.org/officeDocument/2006/relationships/font" Target="/ppt/fonts/font2.dat" Id="R1407f4fc92b94436" /><Relationship Type="http://schemas.openxmlformats.org/officeDocument/2006/relationships/font" Target="/ppt/fonts/font3.dat" Id="R64a344d2a25c4b07" /><Relationship Type="http://schemas.openxmlformats.org/officeDocument/2006/relationships/font" Target="/ppt/fonts/font4.dat" Id="R83aa9632d6d846d7" /><Relationship Type="http://schemas.openxmlformats.org/officeDocument/2006/relationships/font" Target="/ppt/fonts/font5.dat" Id="Re2c6efba68c1475f" /><Relationship Type="http://schemas.openxmlformats.org/officeDocument/2006/relationships/font" Target="/ppt/fonts/font6.dat" Id="R2a6230ed514548cf" /><Relationship Type="http://schemas.openxmlformats.org/officeDocument/2006/relationships/font" Target="/ppt/fonts/font7.dat" Id="R60eafb9c6508455d" /><Relationship Type="http://schemas.openxmlformats.org/officeDocument/2006/relationships/font" Target="/ppt/fonts/font8.dat" Id="Rcebe73b6dda84590" /><Relationship Type="http://schemas.openxmlformats.org/officeDocument/2006/relationships/font" Target="/ppt/fonts/font9.dat" Id="R884fb6e3840c4840" /><Relationship Type="http://schemas.openxmlformats.org/officeDocument/2006/relationships/slide" Target="/ppt/slides/slide1.xml" Id="Rd4aeca0ba2a74c8f" /><Relationship Type="http://schemas.openxmlformats.org/officeDocument/2006/relationships/slide" Target="/ppt/slides/slide2.xml" Id="R4297ec8f4ff643eb" /><Relationship Type="http://schemas.openxmlformats.org/officeDocument/2006/relationships/slide" Target="/ppt/slides/slide3.xml" Id="R2301b45c4c67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832f60fc5647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dca7c3e95c43c3" /><Relationship Type="http://schemas.openxmlformats.org/officeDocument/2006/relationships/notesMaster" Target="/ppt/notesMasters/notesMaster1.xml" Id="Re42e0dcd195f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e94446b3464298" /><Relationship Type="http://schemas.openxmlformats.org/officeDocument/2006/relationships/notesMaster" Target="/ppt/notesMasters/notesMaster1.xml" Id="Re9d76b8842f44f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19977bad574681" /><Relationship Type="http://schemas.openxmlformats.org/officeDocument/2006/relationships/notesMaster" Target="/ppt/notesMasters/notesMaster1.xml" Id="Rcd0cc9b4b8fa4c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ClassMic in-class SMART note supplied by the user, prior ClassMic charter, revised A2 document. The audibility problem is a hypothesis without a measured local baseline. The course-prototype scope is proposed for review. No approval or user study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revised ClassMic A2 aspiration and C1 charter. Role assignments, named instructor and technical reviewer participation require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revised ClassMic A2 and C1. Timed-trial and volunteer sample sizes are proposed course feasibility methods. They are not statistically representative. Transport delay has a separate measurement and an acceptance threshold requiring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0ac0cd3e54e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58c880bb224e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18552bc5f49e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bf4ed5754f46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1729beb8d44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f46a9d5ce466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ddffc70f943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b29a4f95e4b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59a61ca7240c2" /><Relationship Type="http://schemas.openxmlformats.org/officeDocument/2006/relationships/image" Target="/ppt/media/image.png" Id="Rcaed50b7f8f242e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2e2fa2c264993" /><Relationship Type="http://schemas.openxmlformats.org/officeDocument/2006/relationships/image" Target="/ppt/media/image2.png" Id="Raf036d28e56a4a3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caed50b7f8f242e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f036d28e56a4a3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fd25ffdb14d25" /><Relationship Type="http://schemas.openxmlformats.org/officeDocument/2006/relationships/slideLayout" Target="/ppt/slideLayouts/slideLayout1.xml" Id="R73fce20e023b494c" /><Relationship Type="http://schemas.openxmlformats.org/officeDocument/2006/relationships/slideLayout" Target="/ppt/slideLayouts/slideLayout2.xml" Id="Rf22b0c2a9e454886" /><Relationship Type="http://schemas.openxmlformats.org/officeDocument/2006/relationships/slideLayout" Target="/ppt/slideLayouts/slideLayout3.xml" Id="R6ba11eabc8484095" /><Relationship Type="http://schemas.openxmlformats.org/officeDocument/2006/relationships/slideLayout" Target="/ppt/slideLayouts/slideLayout4.xml" Id="Rf03fded2d22b47e0" /><Relationship Type="http://schemas.openxmlformats.org/officeDocument/2006/relationships/slideLayout" Target="/ppt/slideLayouts/slideLayout5.xml" Id="R4eafbc5d626b4a9d" /><Relationship Type="http://schemas.openxmlformats.org/officeDocument/2006/relationships/slideLayout" Target="/ppt/slideLayouts/slideLayout6.xml" Id="R39b759957f9f4267" /><Relationship Type="http://schemas.openxmlformats.org/officeDocument/2006/relationships/slideLayout" Target="/ppt/slideLayouts/slideLayout7.xml" Id="R803b1e0c2d3e4d25" /><Relationship Type="http://schemas.openxmlformats.org/officeDocument/2006/relationships/slideLayout" Target="/ppt/slideLayouts/slideLayout8.xml" Id="Rff4b9b8391954908" /><Relationship Type="http://schemas.openxmlformats.org/officeDocument/2006/relationships/slideLayout" Target="/ppt/slideLayouts/slideLayout9.xml" Id="R324edd9091904f1e" /><Relationship Type="http://schemas.openxmlformats.org/officeDocument/2006/relationships/slideLayout" Target="/ppt/slideLayouts/slideLayout10.xml" Id="Re4fdb4c7f47c480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ce20e023b494c"/>
    <p:sldLayoutId xmlns:r="http://schemas.openxmlformats.org/officeDocument/2006/relationships" id="2147483650" r:id="Rf22b0c2a9e454886"/>
    <p:sldLayoutId xmlns:r="http://schemas.openxmlformats.org/officeDocument/2006/relationships" id="2147483651" r:id="R6ba11eabc8484095"/>
    <p:sldLayoutId xmlns:r="http://schemas.openxmlformats.org/officeDocument/2006/relationships" id="2147483652" r:id="Rf03fded2d22b47e0"/>
    <p:sldLayoutId xmlns:r="http://schemas.openxmlformats.org/officeDocument/2006/relationships" id="2147483653" r:id="R4eafbc5d626b4a9d"/>
    <p:sldLayoutId xmlns:r="http://schemas.openxmlformats.org/officeDocument/2006/relationships" id="2147483654" r:id="R39b759957f9f4267"/>
    <p:sldLayoutId xmlns:r="http://schemas.openxmlformats.org/officeDocument/2006/relationships" id="2147483655" r:id="R803b1e0c2d3e4d25"/>
    <p:sldLayoutId xmlns:r="http://schemas.openxmlformats.org/officeDocument/2006/relationships" id="2147483656" r:id="Rff4b9b8391954908"/>
    <p:sldLayoutId xmlns:r="http://schemas.openxmlformats.org/officeDocument/2006/relationships" id="2147483657" r:id="R324edd9091904f1e"/>
    <p:sldLayoutId xmlns:r="http://schemas.openxmlformats.org/officeDocument/2006/relationships" id="2147483658" r:id="Re4fdb4c7f47c480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716efa98e41ad" /><Relationship Type="http://schemas.openxmlformats.org/officeDocument/2006/relationships/notesSlide" Target="/ppt/notesSlides/notesSlide1.xml" Id="Raa53f9c424bb47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43b6aa0dd364bbf" /><Relationship Type="http://schemas.openxmlformats.org/officeDocument/2006/relationships/notesSlide" Target="/ppt/notesSlides/notesSlide2.xml" Id="Ra7f235c3e83f4b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f5140f2ef486e" /><Relationship Type="http://schemas.openxmlformats.org/officeDocument/2006/relationships/notesSlide" Target="/ppt/notesSlides/notesSlide3.xml" Id="Rd091fdd1235d46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aspiration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When a question is hard to hear, the instructor may need to repeat it or pass a microphone. Local frequency is unmeasured.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Problem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Students request a turn from their phones. An approved speaker uses the room speaker without passing a microphone.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Proposed value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in-class SMART note supports the concept. User demand and performance still need testing.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Evidence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Two weekly build sprints and controlled evaluation. A live classroom pilot needs a later decision.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Boundary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A2  Classroom participation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Make student questions easier for the whole room to hear while the instructor controls speaking turns.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course project will test a small browser prototype using existing equipment.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Revised ClassMic course proposal. Team and instructor review are pending.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Students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Speakers need a simple way to request a turn. Listeners need clear audio. Participation stays optional, with an alternative speaking path.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Instructors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Operators need approval, mute and end controls that fit classroom discussion. Their feedback will shape the workflow.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People and decisions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Project team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Temiko leads the prototype. Nurtore coordinates requirements, delivery and evaluation. The team must confirm capacity and responsibilities.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Review and support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course instructor is the proposed acceptance authority. Device, sound and accessibility advice depends on available reviewers.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Role assignments and reviewer participation require confirmation.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Proposed success measures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Course feasibility test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Five priority user stories, two weekly sprints and a report of actual results. These targets are proposals, not measured outcomes.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00000"/>
                <a:gridCol w="5700000"/>
                <a:gridCol w="3404599"/>
              </a:tblGrid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Measure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Target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Evidence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stories and all Must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Setup and speaking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9/10 setups within 2 min
27/30 speaking trials within 3 sec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timed trials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least 75% positive feedback
At least 5 volunteer reviewers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Counts and sample limits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 and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unauthorized transmission
No saved audio or transcripts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Misuse and storage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Measure transport delay separately. Confirm an acceptable threshold before audio acceptance.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2026-09-09T20:24:46.1290000Z</dcterms:created>
  <dcterms:modified xsi:type="dcterms:W3CDTF">2026-09-09T20:24:46.1290000Z</dcterms:modified>
</coreProperties>
</file>