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4dc221173b4afe" /><Relationship Type="http://schemas.openxmlformats.org/officeDocument/2006/relationships/extended-properties" Target="/docProps/app.xml" Id="R3fbeea8b7b6b41bb" /><Relationship Type="http://schemas.openxmlformats.org/officeDocument/2006/relationships/officeDocument" Target="/ppt/presentation.xml" Id="R4d16fb64480b4cc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b41b9dd672754417"/>
  </p:sldMasterIdLst>
  <p:notesMasterIdLst>
    <p:notesMasterId xmlns:r="http://schemas.openxmlformats.org/officeDocument/2006/relationships" r:id="R61f19feb92f24bae"/>
  </p:notesMasterIdLst>
  <p:sldIdLst>
    <p:sldId xmlns:r="http://schemas.openxmlformats.org/officeDocument/2006/relationships" id="256" r:id="R9a7bbf92245c461e"/>
    <p:sldId xmlns:r="http://schemas.openxmlformats.org/officeDocument/2006/relationships" id="257" r:id="Rddf1cc8e38dc4164"/>
    <p:sldId xmlns:r="http://schemas.openxmlformats.org/officeDocument/2006/relationships" id="258" r:id="Rd7bb88df5c394bdd"/>
  </p:sldIdLst>
  <p:sldSz cx="12192000" cy="6858000"/>
  <p:notesSz cx="6858000" cy="9144000"/>
  <p:embeddedFontLst>
    <p:embeddedFont>
      <p:font typeface="Inter"/>
      <p:regular xmlns:r="http://schemas.openxmlformats.org/officeDocument/2006/relationships" r:id="Rb06c4813727247ef"/>
      <p:bold xmlns:r="http://schemas.openxmlformats.org/officeDocument/2006/relationships" r:id="Rc89bd72c101249c9"/>
    </p:embeddedFont>
    <p:embeddedFont>
      <p:font typeface="Inter Medium"/>
      <p:regular xmlns:r="http://schemas.openxmlformats.org/officeDocument/2006/relationships" r:id="R6202f2624c93490e"/>
    </p:embeddedFont>
    <p:embeddedFont>
      <p:font typeface="Inter SemiBold"/>
      <p:regular xmlns:r="http://schemas.openxmlformats.org/officeDocument/2006/relationships" r:id="Rc668866a278d4072"/>
      <p:bold xmlns:r="http://schemas.openxmlformats.org/officeDocument/2006/relationships" r:id="Re035eb37a1e44450"/>
    </p:embeddedFont>
    <p:embeddedFont>
      <p:font typeface="OpenAI Sans"/>
      <p:regular xmlns:r="http://schemas.openxmlformats.org/officeDocument/2006/relationships" r:id="R94eab85d0d9841dd"/>
      <p:bold xmlns:r="http://schemas.openxmlformats.org/officeDocument/2006/relationships" r:id="R080a4605adee4211"/>
      <p:italic xmlns:r="http://schemas.openxmlformats.org/officeDocument/2006/relationships" r:id="R4d88f35b7ab74ea7"/>
      <p:boldItalic xmlns:r="http://schemas.openxmlformats.org/officeDocument/2006/relationships" r:id="R98de4f436b8d4b7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ca68b8a9254a2b" /><Relationship Type="http://schemas.openxmlformats.org/officeDocument/2006/relationships/slideMaster" Target="/ppt/slideMasters/slideMaster1.xml" Id="Rb41b9dd672754417" /><Relationship Type="http://schemas.openxmlformats.org/officeDocument/2006/relationships/notesMaster" Target="/ppt/notesMasters/notesMaster1.xml" Id="R61f19feb92f24bae" /><Relationship Type="http://schemas.openxmlformats.org/officeDocument/2006/relationships/presProps" Target="/ppt/presProps.xml" Id="Re94cf63836914571" /><Relationship Type="http://schemas.openxmlformats.org/officeDocument/2006/relationships/viewProps" Target="/ppt/viewProps.xml" Id="R321cff2e9f3c42cd" /><Relationship Type="http://schemas.openxmlformats.org/officeDocument/2006/relationships/tableStyles" Target="/ppt/tableStyles.xml" Id="R0afd9ce5ca1d47a2" /><Relationship Type="http://schemas.openxmlformats.org/officeDocument/2006/relationships/font" Target="/ppt/fonts/font.dat" Id="Rb06c4813727247ef" /><Relationship Type="http://schemas.openxmlformats.org/officeDocument/2006/relationships/font" Target="/ppt/fonts/font2.dat" Id="Rc89bd72c101249c9" /><Relationship Type="http://schemas.openxmlformats.org/officeDocument/2006/relationships/font" Target="/ppt/fonts/font3.dat" Id="R6202f2624c93490e" /><Relationship Type="http://schemas.openxmlformats.org/officeDocument/2006/relationships/font" Target="/ppt/fonts/font4.dat" Id="Rc668866a278d4072" /><Relationship Type="http://schemas.openxmlformats.org/officeDocument/2006/relationships/font" Target="/ppt/fonts/font5.dat" Id="Re035eb37a1e44450" /><Relationship Type="http://schemas.openxmlformats.org/officeDocument/2006/relationships/font" Target="/ppt/fonts/font6.dat" Id="R94eab85d0d9841dd" /><Relationship Type="http://schemas.openxmlformats.org/officeDocument/2006/relationships/font" Target="/ppt/fonts/font7.dat" Id="R080a4605adee4211" /><Relationship Type="http://schemas.openxmlformats.org/officeDocument/2006/relationships/font" Target="/ppt/fonts/font8.dat" Id="R4d88f35b7ab74ea7" /><Relationship Type="http://schemas.openxmlformats.org/officeDocument/2006/relationships/font" Target="/ppt/fonts/font9.dat" Id="R98de4f436b8d4b75" /><Relationship Type="http://schemas.openxmlformats.org/officeDocument/2006/relationships/slide" Target="/ppt/slides/slide1.xml" Id="R9a7bbf92245c461e" /><Relationship Type="http://schemas.openxmlformats.org/officeDocument/2006/relationships/slide" Target="/ppt/slides/slide2.xml" Id="Rddf1cc8e38dc4164" /><Relationship Type="http://schemas.openxmlformats.org/officeDocument/2006/relationships/slide" Target="/ppt/slides/slide3.xml" Id="Rd7bb88df5c394b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bc27074fc144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c8508d285f4399" /><Relationship Type="http://schemas.openxmlformats.org/officeDocument/2006/relationships/notesMaster" Target="/ppt/notesMasters/notesMaster1.xml" Id="R2c84d4ff6ada46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db621c02b94bad" /><Relationship Type="http://schemas.openxmlformats.org/officeDocument/2006/relationships/notesMaster" Target="/ppt/notesMasters/notesMaster1.xml" Id="R6ff658c20d8d4c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9e7229ffeb4283" /><Relationship Type="http://schemas.openxmlformats.org/officeDocument/2006/relationships/notesMaster" Target="/ppt/notesMasters/notesMaster1.xml" Id="R3d91b940a6ba40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ClassMic in-class SMART note supplied by the user, prior ClassMic charter, revised A2 document. The audibility problem is a hypothesis without a measured local baseline. The course-prototype scope is proposed for review. No approval or user study is claimed.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revised ClassMic A2 aspiration and C1 charter. Planning roles are selected. Formal course acceptance and technical reviewer participation remain open.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revised ClassMic A2 and C1. Timed-trial and volunteer sample sizes are proposed course feasibility methods. They are not statistically representative. Transport delay has a separate measurement and a selected 95th percentile target of 150 milliseconds.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c781b2e4046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2d4be66234d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48af86a2a442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b3b52800b47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228e82bbbc4a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779ec0dd84d0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afdb0e0f34bc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b036d613c94d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198941abc4c13" /><Relationship Type="http://schemas.openxmlformats.org/officeDocument/2006/relationships/image" Target="/ppt/media/image.png" Id="R38799b0958874a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9c256eac7417f" /><Relationship Type="http://schemas.openxmlformats.org/officeDocument/2006/relationships/image" Target="/ppt/media/image2.png" Id="Ra028d176ef27485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38799b0958874af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a028d176ef27485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aa0426c6cb40e8" /><Relationship Type="http://schemas.openxmlformats.org/officeDocument/2006/relationships/slideLayout" Target="/ppt/slideLayouts/slideLayout1.xml" Id="R3291e40be3034657" /><Relationship Type="http://schemas.openxmlformats.org/officeDocument/2006/relationships/slideLayout" Target="/ppt/slideLayouts/slideLayout2.xml" Id="R75c39b75a8424575" /><Relationship Type="http://schemas.openxmlformats.org/officeDocument/2006/relationships/slideLayout" Target="/ppt/slideLayouts/slideLayout3.xml" Id="Re6e304d1e435494b" /><Relationship Type="http://schemas.openxmlformats.org/officeDocument/2006/relationships/slideLayout" Target="/ppt/slideLayouts/slideLayout4.xml" Id="Ra70b5e56ddb74abd" /><Relationship Type="http://schemas.openxmlformats.org/officeDocument/2006/relationships/slideLayout" Target="/ppt/slideLayouts/slideLayout5.xml" Id="R5aef0ab982954e41" /><Relationship Type="http://schemas.openxmlformats.org/officeDocument/2006/relationships/slideLayout" Target="/ppt/slideLayouts/slideLayout6.xml" Id="R7fb2baa36b984495" /><Relationship Type="http://schemas.openxmlformats.org/officeDocument/2006/relationships/slideLayout" Target="/ppt/slideLayouts/slideLayout7.xml" Id="Ra2a1fbc2f53e4ff4" /><Relationship Type="http://schemas.openxmlformats.org/officeDocument/2006/relationships/slideLayout" Target="/ppt/slideLayouts/slideLayout8.xml" Id="R7c7ec3a3917043ea" /><Relationship Type="http://schemas.openxmlformats.org/officeDocument/2006/relationships/slideLayout" Target="/ppt/slideLayouts/slideLayout9.xml" Id="R56b90fb665284b4f" /><Relationship Type="http://schemas.openxmlformats.org/officeDocument/2006/relationships/slideLayout" Target="/ppt/slideLayouts/slideLayout10.xml" Id="Ra8ed41a2034a41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91e40be3034657"/>
    <p:sldLayoutId xmlns:r="http://schemas.openxmlformats.org/officeDocument/2006/relationships" id="2147483650" r:id="R75c39b75a8424575"/>
    <p:sldLayoutId xmlns:r="http://schemas.openxmlformats.org/officeDocument/2006/relationships" id="2147483651" r:id="Re6e304d1e435494b"/>
    <p:sldLayoutId xmlns:r="http://schemas.openxmlformats.org/officeDocument/2006/relationships" id="2147483652" r:id="Ra70b5e56ddb74abd"/>
    <p:sldLayoutId xmlns:r="http://schemas.openxmlformats.org/officeDocument/2006/relationships" id="2147483653" r:id="R5aef0ab982954e41"/>
    <p:sldLayoutId xmlns:r="http://schemas.openxmlformats.org/officeDocument/2006/relationships" id="2147483654" r:id="R7fb2baa36b984495"/>
    <p:sldLayoutId xmlns:r="http://schemas.openxmlformats.org/officeDocument/2006/relationships" id="2147483655" r:id="Ra2a1fbc2f53e4ff4"/>
    <p:sldLayoutId xmlns:r="http://schemas.openxmlformats.org/officeDocument/2006/relationships" id="2147483656" r:id="R7c7ec3a3917043ea"/>
    <p:sldLayoutId xmlns:r="http://schemas.openxmlformats.org/officeDocument/2006/relationships" id="2147483657" r:id="R56b90fb665284b4f"/>
    <p:sldLayoutId xmlns:r="http://schemas.openxmlformats.org/officeDocument/2006/relationships" id="2147483658" r:id="Ra8ed41a2034a412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a62d4c5a5d4471" /><Relationship Type="http://schemas.openxmlformats.org/officeDocument/2006/relationships/notesSlide" Target="/ppt/notesSlides/notesSlide1.xml" Id="Re5ea05a422fb41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f8e959005a40f5" /><Relationship Type="http://schemas.openxmlformats.org/officeDocument/2006/relationships/notesSlide" Target="/ppt/notesSlides/notesSlide2.xml" Id="Rcd9ab4b10a88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643adf2ee431f" /><Relationship Type="http://schemas.openxmlformats.org/officeDocument/2006/relationships/notesSlide" Target="/ppt/notesSlides/notesSlide3.xml" Id="R756ad66af6554c6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1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ClassMic aspiration</a:t>
            </a:r>
            <a:endParaRPr/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When a question is hard to hear, the instructor may need to repeat it or pass a microphone. Local frequency is unmeasured.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Problem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Students request a turn from their phones. An approved speaker uses the room speaker without passing a microphone.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Proposed value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in-class SMART note supports the concept. User demand and performance still need testing.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Evidence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Two weekly build sprints and controlled evaluation. A live classroom pilot needs a later decision.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1600">
                <a:solidFill>
                  <a:schemeClr val="accent5">
                    <a:lumMod val="50000"/>
                  </a:schemeClr>
                </a:solidFill>
                <a:latin typeface="Helvetica Neue Medium"/>
                <a:ea typeface="Helvetica Neue Medium"/>
                <a:cs typeface="Helvetica Neue Medium"/>
              </a:rPr>
              <a:t>Boundary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Font typeface="Arial"/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A2  Classroom participation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Font typeface="Arial"/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Make student questions easier for the whole room to hear while the instructor controls speaking turns.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The course project will test a small browser prototype using existing equipment.</a:t>
            </a:r>
          </a:p>
        </p:txBody>
      </p:sp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Revised ClassMic course proposal. Team and instructor review are pending.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Students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Speakers need a simple way to request a turn. Listeners need clear audio. Participation stays optional, with an alternative speaking path.</a:t>
            </a:r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2</a:t>
            </a:r>
            <a:endParaRPr/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164318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ClrTx/>
              <a:buSzTx/>
              <a:buFontTx/>
              <a:buNone/>
            </a:pPr>
            <a:r>
              <a:rPr sz="2400" b="0" i="0" u="none" cap="none" spc="0">
                <a:ln>
                  <a:noFill/>
                </a:ln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Instructors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Operators need approval, mute and end controls that fit classroom discussion. Their feedback will shape the workflow.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1040292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People and decisions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Project team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Temiko leads the prototype. Nurtore coordinates requirements, delivery and evaluation. Use these planning roles and check capacity at sprint planning.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0000"/>
              </a:lnSpc>
              <a:spcBef>
                <a:spcPts val="0"/>
              </a:spcBef>
              <a:spcAft>
                <a:spcPts val="850"/>
              </a:spcAft>
              <a:buFontTx/>
              <a:buNone/>
            </a:pPr>
            <a:r>
              <a:rPr sz="24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Review and support</a:t>
            </a:r>
          </a:p>
          <a:p xmlns:a="http://schemas.openxmlformats.org/drawingml/2006/main">
            <a:pPr marL="0" lv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Tx/>
              <a:buNone/>
            </a:pPr>
            <a:r>
              <a:rPr sz="18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The course instructor is the proposed acceptance authority. Device, sound and accessibility advice depends on available reviewers.</a:t>
            </a:r>
            <a:endParaRPr sz="180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Planning roles are selected. Reviewer participation and course acceptance remain open.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000">
                <a:latin typeface="Helvetica Neue"/>
                <a:ea typeface="Helvetica Neue"/>
                <a:cs typeface="Helvetica Neue"/>
              </a:rPr>
              <a:t>3</a:t>
            </a:r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3000">
                <a:latin typeface="Helvetica Neue"/>
                <a:ea typeface="Helvetica Neue"/>
                <a:cs typeface="Helvetica Neue"/>
              </a:rPr>
              <a:t>Proposed success measures</a:t>
            </a:r>
            <a:endParaRPr/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5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Course feasibility test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Five priority user stories, two weekly sprints and a report of actual results. These targets are proposals, not measured outcomes.</a:t>
            </a:r>
          </a:p>
        </p:txBody>
      </p:sp>
      <p:graphicFrame>
        <p:nvGraphicFramePr>
          <p:cNvPr id="538" name="Google Shape;644;p93"/>
          <p:cNvGraphicFramePr/>
          <p:nvPr/>
        </p:nvGraphicFramePr>
        <p:xfrm>
          <a:off xmlns:a="http://schemas.openxmlformats.org/drawingml/2006/main" x="393700" y="2251080"/>
          <a:ext xmlns:a="http://schemas.openxmlformats.org/drawingml/2006/main" cx="11404599" cy="393261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00000"/>
                <a:gridCol w="5700000"/>
                <a:gridCol w="3404599"/>
              </a:tblGrid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Measure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Target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Helvetica Neue Medium"/>
                          <a:ea typeface="Helvetica Neue Medium"/>
                          <a:cs typeface="Helvetica Neue Medium"/>
                        </a:rPr>
                        <a:t>Evidence</a:t>
                      </a:r>
                      <a:endParaRPr sz="1400" b="1">
                        <a:solidFill>
                          <a:schemeClr val="accent5">
                            <a:lumMod val="50000"/>
                          </a:schemeClr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Complete scope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stories and all Must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record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Setup and speaking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9/10 setups within 2 min
27/30 speaking trials within 3 sec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Scripted timed trials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Audibility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 least 75% positive feedback
At least 5 volunteer reviewers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Counts and sample limits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  <a:tr h="786523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 and privacy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unauthorized transmission
No saved audio or transcripts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Misuse and storage checks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110000" marT="90000" marB="90000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330000"/>
            <a:ext cx="10600000" cy="3200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0"/>
              </a:spcBef>
              <a:spcAft>
                <a:spcPts val="500"/>
              </a:spcAft>
              <a:buNone/>
            </a:pPr>
            <a:r>
              <a:rPr sz="1200">
                <a:latin typeface="Helvetica Neue"/>
                <a:ea typeface="Helvetica Neue"/>
                <a:cs typeface="Helvetica Neue"/>
              </a:rPr>
              <a:t>Separate one-way audio-delay target: 95th percentile at most 150 ms.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2985487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2026-09-09T20:43:56.3250000Z</dcterms:created>
  <dcterms:modified xsi:type="dcterms:W3CDTF">2026-09-09T20:43:56.3250000Z</dcterms:modified>
</coreProperties>
</file>