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f972c4c4a44634" /><Relationship Type="http://schemas.openxmlformats.org/officeDocument/2006/relationships/extended-properties" Target="/docProps/app.xml" Id="Rf1a7325792de4890" /><Relationship Type="http://schemas.openxmlformats.org/officeDocument/2006/relationships/officeDocument" Target="/ppt/presentation.xml" Id="R2a30ee1de2eb4a1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c63dba15718458d"/>
  </p:sldMasterIdLst>
  <p:notesMasterIdLst>
    <p:notesMasterId xmlns:r="http://schemas.openxmlformats.org/officeDocument/2006/relationships" r:id="R3a69bdd6c9104803"/>
  </p:notesMasterIdLst>
  <p:sldIdLst>
    <p:sldId xmlns:r="http://schemas.openxmlformats.org/officeDocument/2006/relationships" id="256" r:id="R6cd4ed6e51974ac4"/>
    <p:sldId xmlns:r="http://schemas.openxmlformats.org/officeDocument/2006/relationships" id="257" r:id="R14da8fb9d2a946c8"/>
    <p:sldId xmlns:r="http://schemas.openxmlformats.org/officeDocument/2006/relationships" id="258" r:id="Ree8ce730e2454bb1"/>
  </p:sldIdLst>
  <p:sldSz cx="12192000" cy="6858000"/>
  <p:notesSz cx="6858000" cy="9144000"/>
  <p:embeddedFontLst>
    <p:embeddedFont>
      <p:font typeface="Inter"/>
      <p:regular xmlns:r="http://schemas.openxmlformats.org/officeDocument/2006/relationships" r:id="Rb93d92c5ea8b4d99"/>
      <p:bold xmlns:r="http://schemas.openxmlformats.org/officeDocument/2006/relationships" r:id="R0e20fdb85fd7466a"/>
    </p:embeddedFont>
    <p:embeddedFont>
      <p:font typeface="Inter Medium"/>
      <p:regular xmlns:r="http://schemas.openxmlformats.org/officeDocument/2006/relationships" r:id="R271f414b567441aa"/>
    </p:embeddedFont>
    <p:embeddedFont>
      <p:font typeface="Inter SemiBold"/>
      <p:regular xmlns:r="http://schemas.openxmlformats.org/officeDocument/2006/relationships" r:id="Rba56641af945477f"/>
      <p:bold xmlns:r="http://schemas.openxmlformats.org/officeDocument/2006/relationships" r:id="Ra204ac3a8c214223"/>
    </p:embeddedFont>
    <p:embeddedFont>
      <p:font typeface="OpenAI Sans"/>
      <p:regular xmlns:r="http://schemas.openxmlformats.org/officeDocument/2006/relationships" r:id="R37ba394f6da7478a"/>
      <p:bold xmlns:r="http://schemas.openxmlformats.org/officeDocument/2006/relationships" r:id="R764908ed34d94a7f"/>
      <p:italic xmlns:r="http://schemas.openxmlformats.org/officeDocument/2006/relationships" r:id="Rb46e94109d314b06"/>
      <p:boldItalic xmlns:r="http://schemas.openxmlformats.org/officeDocument/2006/relationships" r:id="Rbec2734fe0d44c76"/>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ada12e91aba4c84" /><Relationship Type="http://schemas.openxmlformats.org/officeDocument/2006/relationships/slideMaster" Target="/ppt/slideMasters/slideMaster1.xml" Id="Rfc63dba15718458d" /><Relationship Type="http://schemas.openxmlformats.org/officeDocument/2006/relationships/notesMaster" Target="/ppt/notesMasters/notesMaster1.xml" Id="R3a69bdd6c9104803" /><Relationship Type="http://schemas.openxmlformats.org/officeDocument/2006/relationships/presProps" Target="/ppt/presProps.xml" Id="R9d889555c0bf4c86" /><Relationship Type="http://schemas.openxmlformats.org/officeDocument/2006/relationships/viewProps" Target="/ppt/viewProps.xml" Id="R2723055ac0ea4a41" /><Relationship Type="http://schemas.openxmlformats.org/officeDocument/2006/relationships/tableStyles" Target="/ppt/tableStyles.xml" Id="Reb05ca4db5104932" /><Relationship Type="http://schemas.openxmlformats.org/officeDocument/2006/relationships/font" Target="/ppt/fonts/font.dat" Id="Rb93d92c5ea8b4d99" /><Relationship Type="http://schemas.openxmlformats.org/officeDocument/2006/relationships/font" Target="/ppt/fonts/font2.dat" Id="R0e20fdb85fd7466a" /><Relationship Type="http://schemas.openxmlformats.org/officeDocument/2006/relationships/font" Target="/ppt/fonts/font3.dat" Id="R271f414b567441aa" /><Relationship Type="http://schemas.openxmlformats.org/officeDocument/2006/relationships/font" Target="/ppt/fonts/font4.dat" Id="Rba56641af945477f" /><Relationship Type="http://schemas.openxmlformats.org/officeDocument/2006/relationships/font" Target="/ppt/fonts/font5.dat" Id="Ra204ac3a8c214223" /><Relationship Type="http://schemas.openxmlformats.org/officeDocument/2006/relationships/font" Target="/ppt/fonts/font6.dat" Id="R37ba394f6da7478a" /><Relationship Type="http://schemas.openxmlformats.org/officeDocument/2006/relationships/font" Target="/ppt/fonts/font7.dat" Id="R764908ed34d94a7f" /><Relationship Type="http://schemas.openxmlformats.org/officeDocument/2006/relationships/font" Target="/ppt/fonts/font8.dat" Id="Rb46e94109d314b06" /><Relationship Type="http://schemas.openxmlformats.org/officeDocument/2006/relationships/font" Target="/ppt/fonts/font9.dat" Id="Rbec2734fe0d44c76" /><Relationship Type="http://schemas.openxmlformats.org/officeDocument/2006/relationships/slide" Target="/ppt/slides/slide1.xml" Id="R6cd4ed6e51974ac4" /><Relationship Type="http://schemas.openxmlformats.org/officeDocument/2006/relationships/slide" Target="/ppt/slides/slide2.xml" Id="R14da8fb9d2a946c8" /><Relationship Type="http://schemas.openxmlformats.org/officeDocument/2006/relationships/slide" Target="/ppt/slides/slide3.xml" Id="Ree8ce730e2454b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07b145290545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0a00709d534955" /><Relationship Type="http://schemas.openxmlformats.org/officeDocument/2006/relationships/notesMaster" Target="/ppt/notesMasters/notesMaster1.xml" Id="R39423dd318b146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48b513a66d45d8" /><Relationship Type="http://schemas.openxmlformats.org/officeDocument/2006/relationships/notesMaster" Target="/ppt/notesMasters/notesMaster1.xml" Id="Rc9c8b12152a649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9611989f0a4923" /><Relationship Type="http://schemas.openxmlformats.org/officeDocument/2006/relationships/notesMaster" Target="/ppt/notesMasters/notesMaster1.xml" Id="Rfa0396ac888749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ClassMic aspiration, business case and charter. The targets cover scope completion, usable setup and speaking, perceived audibility, and instructor control. Ready-speaker trials measure time from instructor approval to audible speech. Audio transport delay is measured separately, with median and 95th percentile reported and a proposed 95th percentile target of 150 milliseconds.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revised C1 charter. The course scope contains five priority stories and two one-week sprints. The earlier 14-week classroom pilot is outside the current course authorization. The proposed schedule places planning review by 19 September, followed by the two build sprints and a closeout review by 9 October.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ClassMic charter and business case. Nurtore coordinates the project and Temiko leads technical development. Proposed effort is 54 hours for Temiko and 46 for Nurtore. Course authorization, the named sponsor and access to equipment and reviewers remain open. The instructor reviews material scope or schedule changes.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e57bd9966545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ba0a054ff0a428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4431a13095549e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03e75f7ddb479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386eb9424a5435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d22b4b27abf4ed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90d10a8bf6940e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95364883481468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ee9daa168324a6c" /><Relationship Type="http://schemas.openxmlformats.org/officeDocument/2006/relationships/image" Target="/ppt/media/image.png" Id="R4bce0736e2ac4f1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d6183863a1a4c84" /><Relationship Type="http://schemas.openxmlformats.org/officeDocument/2006/relationships/image" Target="/ppt/media/image2.png" Id="R0e6ac91017d4499d"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solidFill>
                  <a:schemeClr val="accent1"/>
                </a:solidFill>
                <a:latin typeface="Inter SemiBold"/>
                <a:ea typeface="Inter SemiBold"/>
                <a:cs typeface="Inter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952"/>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reserve="1" userDrawn="1">
  <p:cSld name="36 Field Grid">
    <p:bg>
      <p:bgPr>
        <a:blipFill xmlns:a="http://schemas.openxmlformats.org/drawingml/2006/main" rotWithShape="1">
          <a:blip xmlns:r="http://schemas.openxmlformats.org/officeDocument/2006/relationships" r:embed="R4bce0736e2ac4f1d">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reserve="1" userDrawn="1">
  <p:cSld name="48 Field Grid">
    <p:bg>
      <p:bgPr>
        <a:blipFill xmlns:a="http://schemas.openxmlformats.org/drawingml/2006/main" rotWithShape="1">
          <a:blip xmlns:r="http://schemas.openxmlformats.org/officeDocument/2006/relationships" r:embed="R0e6ac91017d4499d">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7fc90d357c4e69" /><Relationship Type="http://schemas.openxmlformats.org/officeDocument/2006/relationships/slideLayout" Target="/ppt/slideLayouts/slideLayout1.xml" Id="R0b304d40b24641aa" /><Relationship Type="http://schemas.openxmlformats.org/officeDocument/2006/relationships/slideLayout" Target="/ppt/slideLayouts/slideLayout2.xml" Id="Rc84cafefa7d441e0" /><Relationship Type="http://schemas.openxmlformats.org/officeDocument/2006/relationships/slideLayout" Target="/ppt/slideLayouts/slideLayout3.xml" Id="R0d5d28b5b1584ea0" /><Relationship Type="http://schemas.openxmlformats.org/officeDocument/2006/relationships/slideLayout" Target="/ppt/slideLayouts/slideLayout4.xml" Id="Rff8046d2e6404459" /><Relationship Type="http://schemas.openxmlformats.org/officeDocument/2006/relationships/slideLayout" Target="/ppt/slideLayouts/slideLayout5.xml" Id="Rb57e4d1123c24a7a" /><Relationship Type="http://schemas.openxmlformats.org/officeDocument/2006/relationships/slideLayout" Target="/ppt/slideLayouts/slideLayout6.xml" Id="Ra3bd00deccd34c56" /><Relationship Type="http://schemas.openxmlformats.org/officeDocument/2006/relationships/slideLayout" Target="/ppt/slideLayouts/slideLayout7.xml" Id="R94c8fc6c29b54d14" /><Relationship Type="http://schemas.openxmlformats.org/officeDocument/2006/relationships/slideLayout" Target="/ppt/slideLayouts/slideLayout8.xml" Id="R1c5b1decdde04288" /><Relationship Type="http://schemas.openxmlformats.org/officeDocument/2006/relationships/slideLayout" Target="/ppt/slideLayouts/slideLayout9.xml" Id="Rbedaa319c3014a10" /><Relationship Type="http://schemas.openxmlformats.org/officeDocument/2006/relationships/slideLayout" Target="/ppt/slideLayouts/slideLayout10.xml" Id="Re99f28e3ed944b4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304d40b24641aa"/>
    <p:sldLayoutId xmlns:r="http://schemas.openxmlformats.org/officeDocument/2006/relationships" id="2147483650" r:id="Rc84cafefa7d441e0"/>
    <p:sldLayoutId xmlns:r="http://schemas.openxmlformats.org/officeDocument/2006/relationships" id="2147483651" r:id="R0d5d28b5b1584ea0"/>
    <p:sldLayoutId xmlns:r="http://schemas.openxmlformats.org/officeDocument/2006/relationships" id="2147483652" r:id="Rff8046d2e6404459"/>
    <p:sldLayoutId xmlns:r="http://schemas.openxmlformats.org/officeDocument/2006/relationships" id="2147483653" r:id="Rb57e4d1123c24a7a"/>
    <p:sldLayoutId xmlns:r="http://schemas.openxmlformats.org/officeDocument/2006/relationships" id="2147483654" r:id="Ra3bd00deccd34c56"/>
    <p:sldLayoutId xmlns:r="http://schemas.openxmlformats.org/officeDocument/2006/relationships" id="2147483655" r:id="R94c8fc6c29b54d14"/>
    <p:sldLayoutId xmlns:r="http://schemas.openxmlformats.org/officeDocument/2006/relationships" id="2147483656" r:id="R1c5b1decdde04288"/>
    <p:sldLayoutId xmlns:r="http://schemas.openxmlformats.org/officeDocument/2006/relationships" id="2147483657" r:id="Rbedaa319c3014a10"/>
    <p:sldLayoutId xmlns:r="http://schemas.openxmlformats.org/officeDocument/2006/relationships" id="2147483658" r:id="Re99f28e3ed944b4e"/>
  </p:sldLayoutIdLst>
  <p:hf hdr="0" dt="0"/>
  <p:txStyles>
    <p:titleStyle>
      <a:lvl1pPr xmlns:a="http://schemas.openxmlformats.org/drawingml/2006/main" algn="l" defTabSz="914400">
        <a:lnSpc>
          <a:spcPct val="90000"/>
        </a:lnSpc>
        <a:spcBef>
          <a:spcPct val="0"/>
        </a:spcBef>
        <a:buNone/>
        <a:defRPr sz="2900" b="0" i="0" kern="1200">
          <a:solidFill>
            <a:schemeClr val="tx1"/>
          </a:solidFill>
          <a:latin typeface="Inter Medium"/>
          <a:ea typeface="Inter Medium"/>
          <a:cs typeface="Inter Medium"/>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a775c03798a4c91" /><Relationship Type="http://schemas.openxmlformats.org/officeDocument/2006/relationships/notesSlide" Target="/ppt/notesSlides/notesSlide1.xml" Id="Rf4338e59e2cc41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0cbd4318d06f4f92" /><Relationship Type="http://schemas.openxmlformats.org/officeDocument/2006/relationships/notesSlide" Target="/ppt/notesSlides/notesSlide2.xml" Id="R9fc9a8bdd7bb49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a7566ce15824a82" /><Relationship Type="http://schemas.openxmlformats.org/officeDocument/2006/relationships/notesSlide" Target="/ppt/notesSlides/notesSlide3.xml" Id="Rb1a52e7d215548e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pPr marL="0" lvl="0" indent="0">
              <a:spcBef>
                <a:spcPts val="0"/>
              </a:spcBef>
              <a:spcAft>
                <a:spcPts val="500"/>
              </a:spcAft>
              <a:buNone/>
            </a:pPr>
            <a:r>
              <a:rPr sz="1000">
                <a:latin typeface="Helvetica Neue"/>
                <a:ea typeface="Helvetica Neue"/>
                <a:cs typeface="Helvetica Neue"/>
              </a:rPr>
              <a:t>1</a:t>
            </a:r>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lvl="0" indent="0">
              <a:spcBef>
                <a:spcPts val="0"/>
              </a:spcBef>
              <a:spcAft>
                <a:spcPts val="500"/>
              </a:spcAft>
              <a:buNone/>
            </a:pPr>
            <a:r>
              <a:rPr sz="3000">
                <a:latin typeface="Helvetica Neue"/>
                <a:ea typeface="Helvetica Neue"/>
                <a:cs typeface="Helvetica Neue"/>
              </a:rPr>
              <a:t>ClassMic project charter</a:t>
            </a:r>
            <a:endParaRP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14000"/>
              </a:lnSpc>
              <a:spcBef>
                <a:spcPts val="0"/>
              </a:spcBef>
              <a:spcAft>
                <a:spcPts val="850"/>
              </a:spcAft>
              <a:buNone/>
            </a:pPr>
            <a:r>
              <a:rPr sz="1800">
                <a:solidFill>
                  <a:prstClr val="black"/>
                </a:solidFill>
                <a:latin typeface="Helvetica Neue Medium"/>
                <a:ea typeface="Helvetica Neue Medium"/>
                <a:cs typeface="Helvetica Neue Medium"/>
              </a:rPr>
              <a:t>C1  Draft course authorization</a:t>
            </a:r>
          </a:p>
          <a:p xmlns:a="http://schemas.openxmlformats.org/drawingml/2006/main">
            <a:pPr marL="0" lvl="0" indent="0">
              <a:lnSpc>
                <a:spcPct val="114000"/>
              </a:lnSpc>
              <a:spcBef>
                <a:spcPts val="0"/>
              </a:spcBef>
              <a:spcAft>
                <a:spcPts val="500"/>
              </a:spcAft>
              <a:buNone/>
            </a:pPr>
            <a:r>
              <a:rPr sz="1600">
                <a:solidFill>
                  <a:prstClr val="black"/>
                </a:solidFill>
                <a:latin typeface="Helvetica Neue"/>
                <a:ea typeface="Helvetica Neue"/>
                <a:cs typeface="Helvetica Neue"/>
              </a:rPr>
              <a:t>Test student phones as instructor-controlled microphones. Revised A2 and B2 support a limited prototype, controlled evaluation and a later pilot decision.</a:t>
            </a:r>
          </a:p>
        </p:txBody>
      </p:sp>
      <p:graphicFrame>
        <p:nvGraphicFramePr>
          <p:cNvPr id="538" name="Google Shape;644;p93"/>
          <p:cNvGraphicFramePr/>
          <p:nvPr/>
        </p:nvGraphicFramePr>
        <p:xfrm>
          <a:off xmlns:a="http://schemas.openxmlformats.org/drawingml/2006/main" x="393700" y="2251080"/>
          <a:ext xmlns:a="http://schemas.openxmlformats.org/drawingml/2006/main" cx="11404599" cy="3932614"/>
        </p:xfrm>
        <a:graphic xmlns:a="http://schemas.openxmlformats.org/drawingml/2006/main">
          <a:graphicData uri="http://schemas.openxmlformats.org/drawingml/2006/table">
            <a:tbl>
              <a:tblPr firstRow="1"/>
              <a:tblGrid>
                <a:gridCol w="2600000"/>
                <a:gridCol w="5300000"/>
                <a:gridCol w="3504599"/>
              </a:tblGrid>
              <a:tr h="786523">
                <a:tc>
                  <a:txBody>
                    <a:bodyPr/>
                    <a:lstStyle/>
                    <a:p>
                      <a:pPr marL="0" lvl="0" indent="0" algn="l">
                        <a:lnSpc>
                          <a:spcPct val="105000"/>
                        </a:lnSpc>
                        <a:spcBef>
                          <a:spcPts val="0"/>
                        </a:spcBef>
                        <a:spcAft>
                          <a:spcPts val="0"/>
                        </a:spcAft>
                        <a:buNone/>
                      </a:pPr>
                      <a:r>
                        <a:rPr sz="1700" b="1">
                          <a:solidFill>
                            <a:schemeClr val="accent5">
                              <a:lumMod val="50000"/>
                            </a:schemeClr>
                          </a:solidFill>
                          <a:latin typeface="Helvetica Neue Medium"/>
                          <a:ea typeface="Helvetica Neue Medium"/>
                          <a:cs typeface="Helvetica Neue Medium"/>
                        </a:rPr>
                        <a:t>Objective</a:t>
                      </a:r>
                      <a:endParaRPr sz="1400" b="1">
                        <a:solidFill>
                          <a:schemeClr val="accent5">
                            <a:lumMod val="50000"/>
                          </a:schemeClr>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Clr>
                          <a:srgbClr val="000000"/>
                        </a:buClr>
                        <a:buSzPts val="1200"/>
                        <a:buFont typeface="Arial"/>
                        <a:buNone/>
                      </a:pPr>
                      <a:r>
                        <a:rPr sz="1700" b="1">
                          <a:solidFill>
                            <a:schemeClr val="accent5">
                              <a:lumMod val="50000"/>
                            </a:schemeClr>
                          </a:solidFill>
                          <a:latin typeface="Helvetica Neue Medium"/>
                          <a:ea typeface="Helvetica Neue Medium"/>
                          <a:cs typeface="Helvetica Neue Medium"/>
                        </a:rPr>
                        <a:t>Proposed target</a:t>
                      </a:r>
                      <a:endParaRPr sz="1400" b="1">
                        <a:solidFill>
                          <a:schemeClr val="accent5">
                            <a:lumMod val="50000"/>
                          </a:schemeClr>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1">
                          <a:solidFill>
                            <a:schemeClr val="accent5">
                              <a:lumMod val="50000"/>
                            </a:schemeClr>
                          </a:solidFill>
                          <a:latin typeface="Helvetica Neue Medium"/>
                          <a:ea typeface="Helvetica Neue Medium"/>
                          <a:cs typeface="Helvetica Neue Medium"/>
                        </a:rPr>
                        <a:t>Evidence</a:t>
                      </a:r>
                      <a:endParaRPr sz="1400" b="1">
                        <a:solidFill>
                          <a:schemeClr val="accent5">
                            <a:lumMod val="50000"/>
                          </a:schemeClr>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r>
              <a:tr h="786523">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O1  Complete scope</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Five stories and all Must checks</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Acceptance record</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r>
              <a:tr h="786523">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O2  Practical workflow</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9/10 setups within 2 min
27/30 speaking trials within 3 sec</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Scripted timed trials</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786523">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O3  Audibility</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At least 75% positive feedback
At least 5 volunteer reviewers</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Counts and sample limits</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786523">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O4  Control and privacy</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No unauthorized transmission
No saved audio or transcripts</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Misuse and storage checks</a:t>
                      </a:r>
                      <a:endParaRPr sz="1400">
                        <a:solidFill>
                          <a:srgbClr val="000000"/>
                        </a:solidFill>
                        <a:latin typeface="+mn-lt"/>
                        <a:ea typeface="+mn-lt"/>
                        <a:cs typeface="+mn-lt"/>
                      </a:endParaRPr>
                    </a:p>
                  </a:txBody>
                  <a:tcPr marL="0" marR="110000" marT="90000" marB="90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bl>
          </a:graphicData>
        </a:graphic>
      </p:graphicFrame>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nvSpPr>
        <p:spPr>
          <a:xfrm xmlns:a="http://schemas.openxmlformats.org/drawingml/2006/main">
            <a:off x="393700" y="6330000"/>
            <a:ext cx="10600000" cy="320000"/>
          </a:xfrm>
        </p:spPr>
        <p:txBody>
          <a:bodyPr xmlns:a="http://schemas.openxmlformats.org/drawingml/2006/main">
            <a:noAutofit/>
          </a:bodyPr>
          <a:lstStyle xmlns:a="http://schemas.openxmlformats.org/drawingml/2006/main"/>
          <a:p xmlns:a="http://schemas.openxmlformats.org/drawingml/2006/main">
            <a:pPr marL="0" lvl="0" indent="0">
              <a:spcBef>
                <a:spcPts val="0"/>
              </a:spcBef>
              <a:spcAft>
                <a:spcPts val="500"/>
              </a:spcAft>
              <a:buNone/>
            </a:pPr>
            <a:r>
              <a:rPr sz="1200">
                <a:latin typeface="Helvetica Neue"/>
                <a:ea typeface="Helvetica Neue"/>
                <a:cs typeface="Helvetica Neue"/>
              </a:rPr>
              <a:t>One-way audio delay target: 95th percentile at most 150 ms.</a:t>
            </a:r>
            <a:endParaRPr sz="1100"/>
          </a:p>
        </p:txBody>
      </p:sp>
    </p:spTree>
    <p:extLst>
      <p:ext uri="{BB962C8B-B14F-4D97-AF65-F5344CB8AC3E}">
        <p14:creationId xmlns:p14="http://schemas.microsoft.com/office/powerpoint/2010/main" val="32985487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1"/>
          </p:nvPr>
        </p:nvSpPr>
        <p:spPr>
          <a:xfrm xmlns:a="http://schemas.openxmlformats.org/drawingml/2006/main">
            <a:off x="393700" y="2032000"/>
            <a:ext cx="5537200" cy="1643185"/>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850"/>
              </a:spcAft>
              <a:buClrTx/>
              <a:buSzTx/>
              <a:buFontTx/>
              <a:buNone/>
            </a:pPr>
            <a:r>
              <a:rPr sz="2400" b="0" i="0" u="none" cap="none" spc="0">
                <a:ln>
                  <a:noFill/>
                </a:ln>
                <a:solidFill>
                  <a:prstClr val="black"/>
                </a:solidFill>
                <a:latin typeface="Helvetica Neue Medium"/>
                <a:ea typeface="Helvetica Neue Medium"/>
                <a:cs typeface="Helvetica Neue Medium"/>
              </a:rPr>
              <a:t>Included scope</a:t>
            </a:r>
          </a:p>
          <a:p xmlns:a="http://schemas.openxmlformats.org/drawingml/2006/main">
            <a:pPr marL="0" marR="0" lvl="0" indent="0" algn="l" defTabSz="914400">
              <a:lnSpc>
                <a:spcPct val="100000"/>
              </a:lnSpc>
              <a:spcBef>
                <a:spcPts val="0"/>
              </a:spcBef>
              <a:spcAft>
                <a:spcPts val="500"/>
              </a:spcAft>
              <a:buClrTx/>
              <a:buSzTx/>
              <a:buFontTx/>
              <a:buNone/>
            </a:pPr>
            <a:r>
              <a:rPr sz="1800" b="0" i="0" u="none" cap="none" spc="0">
                <a:ln>
                  <a:noFill/>
                </a:ln>
                <a:solidFill>
                  <a:prstClr val="black"/>
                </a:solidFill>
                <a:latin typeface="Helvetica Neue"/>
                <a:ea typeface="Helvetica Neue"/>
                <a:cs typeface="Helvetica Neue"/>
              </a:rPr>
              <a:t>Temporary browser sessions, QR or code join, speaking queue, one approved phone microphone, speaker output, recovery and evaluation.</a:t>
            </a: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marL="0" lvl="0" indent="0">
              <a:spcBef>
                <a:spcPts val="0"/>
              </a:spcBef>
              <a:spcAft>
                <a:spcPts val="500"/>
              </a:spcAft>
              <a:buNone/>
            </a:pPr>
            <a:r>
              <a:rPr sz="1000">
                <a:latin typeface="Helvetica Neue"/>
                <a:ea typeface="Helvetica Neue"/>
                <a:cs typeface="Helvetica Neue"/>
              </a:rPr>
              <a:t>2</a:t>
            </a:r>
            <a:endParaRP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10"/>
          </p:nvPr>
        </p:nvSpPr>
        <p:spPr>
          <a:xfrm xmlns:a="http://schemas.openxmlformats.org/drawingml/2006/main">
            <a:off x="6256618" y="2032000"/>
            <a:ext cx="5537200" cy="1643185"/>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850"/>
              </a:spcAft>
              <a:buClrTx/>
              <a:buSzTx/>
              <a:buFontTx/>
              <a:buNone/>
            </a:pPr>
            <a:r>
              <a:rPr sz="2400" b="0" i="0" u="none" cap="none" spc="0">
                <a:ln>
                  <a:noFill/>
                </a:ln>
                <a:solidFill>
                  <a:prstClr val="black"/>
                </a:solidFill>
                <a:latin typeface="Helvetica Neue Medium"/>
                <a:ea typeface="Helvetica Neue Medium"/>
                <a:cs typeface="Helvetica Neue Medium"/>
              </a:rPr>
              <a:t>Exclusions</a:t>
            </a:r>
          </a:p>
          <a:p xmlns:a="http://schemas.openxmlformats.org/drawingml/2006/main">
            <a:pPr marL="0" marR="0" lvl="0" indent="0" algn="l" defTabSz="914400">
              <a:lnSpc>
                <a:spcPct val="100000"/>
              </a:lnSpc>
              <a:spcBef>
                <a:spcPts val="0"/>
              </a:spcBef>
              <a:spcAft>
                <a:spcPts val="500"/>
              </a:spcAft>
              <a:buClrTx/>
              <a:buSzTx/>
              <a:buFontTx/>
              <a:buNone/>
            </a:pPr>
            <a:r>
              <a:rPr sz="1800" b="0" i="0" u="none" cap="none" spc="0">
                <a:ln>
                  <a:noFill/>
                </a:ln>
                <a:solidFill>
                  <a:prstClr val="black"/>
                </a:solidFill>
                <a:latin typeface="Helvetica Neue"/>
                <a:ea typeface="Helvetica Neue"/>
                <a:cs typeface="Helvetica Neue"/>
              </a:rPr>
              <a:t>Live teaching deployment, recording, transcripts, persistent profiles, grading, attendance, simultaneous microphones and paid production infrastructure.</a:t>
            </a: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9"/>
            <a:ext cx="7835900" cy="1040292"/>
          </a:xfrm>
        </p:spPr>
        <p:txBody>
          <a:bodyPr xmlns:a="http://schemas.openxmlformats.org/drawingml/2006/main">
            <a:noAutofit/>
          </a:bodyPr>
          <a:lstStyle xmlns:a="http://schemas.openxmlformats.org/drawingml/2006/main"/>
          <a:p xmlns:a="http://schemas.openxmlformats.org/drawingml/2006/main">
            <a:pPr marL="0" lvl="0" indent="0">
              <a:spcBef>
                <a:spcPts val="0"/>
              </a:spcBef>
              <a:spcAft>
                <a:spcPts val="500"/>
              </a:spcAft>
              <a:buNone/>
            </a:pPr>
            <a:r>
              <a:rPr sz="3000">
                <a:latin typeface="Helvetica Neue"/>
                <a:ea typeface="Helvetica Neue"/>
                <a:cs typeface="Helvetica Neue"/>
              </a:rPr>
              <a:t>Scope and delivery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10000"/>
              </a:lnSpc>
              <a:spcBef>
                <a:spcPts val="0"/>
              </a:spcBef>
              <a:spcAft>
                <a:spcPts val="850"/>
              </a:spcAft>
              <a:buFontTx/>
              <a:buNone/>
            </a:pPr>
            <a:r>
              <a:rPr sz="2400">
                <a:solidFill>
                  <a:prstClr val="black"/>
                </a:solidFill>
                <a:latin typeface="Helvetica Neue Medium"/>
                <a:ea typeface="Helvetica Neue Medium"/>
                <a:cs typeface="Helvetica Neue Medium"/>
              </a:rPr>
              <a:t>Requirements</a:t>
            </a:r>
          </a:p>
          <a:p xmlns:a="http://schemas.openxmlformats.org/drawingml/2006/main">
            <a:pPr marL="0" lvl="0" indent="0">
              <a:lnSpc>
                <a:spcPct val="100000"/>
              </a:lnSpc>
              <a:spcBef>
                <a:spcPts val="0"/>
              </a:spcBef>
              <a:spcAft>
                <a:spcPts val="500"/>
              </a:spcAft>
              <a:buFontTx/>
              <a:buNone/>
            </a:pPr>
            <a:r>
              <a:rPr sz="1800">
                <a:solidFill>
                  <a:prstClr val="black"/>
                </a:solidFill>
                <a:latin typeface="Helvetica Neue"/>
                <a:ea typeface="Helvetica Neue"/>
                <a:cs typeface="Helvetica Neue"/>
              </a:rPr>
              <a:t>Explicit microphone permission, instructor approval and push to talk. Mute, disconnect and end must stop audio. Preserve an alternative speaking route.</a:t>
            </a:r>
            <a:endParaRPr sz="1800">
              <a:solidFill>
                <a:prstClr val="black"/>
              </a:solidFill>
              <a:latin typeface="Helvetica Neue"/>
              <a:ea typeface="Helvetica Neue"/>
              <a:cs typeface="Helvetica Neue"/>
            </a:endParaRP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10000"/>
              </a:lnSpc>
              <a:spcBef>
                <a:spcPts val="0"/>
              </a:spcBef>
              <a:spcAft>
                <a:spcPts val="850"/>
              </a:spcAft>
              <a:buFontTx/>
              <a:buNone/>
            </a:pPr>
            <a:r>
              <a:rPr sz="2400">
                <a:solidFill>
                  <a:prstClr val="black"/>
                </a:solidFill>
                <a:latin typeface="Helvetica Neue Medium"/>
                <a:ea typeface="Helvetica Neue Medium"/>
                <a:cs typeface="Helvetica Neue Medium"/>
              </a:rPr>
              <a:t>Milestones</a:t>
            </a:r>
          </a:p>
          <a:p xmlns:a="http://schemas.openxmlformats.org/drawingml/2006/main">
            <a:pPr marL="0" lvl="0" indent="0">
              <a:lnSpc>
                <a:spcPct val="100000"/>
              </a:lnSpc>
              <a:spcBef>
                <a:spcPts val="0"/>
              </a:spcBef>
              <a:spcAft>
                <a:spcPts val="500"/>
              </a:spcAft>
              <a:buFontTx/>
              <a:buNone/>
            </a:pPr>
            <a:r>
              <a:rPr sz="1800">
                <a:solidFill>
                  <a:prstClr val="black"/>
                </a:solidFill>
                <a:latin typeface="Helvetica Neue"/>
                <a:ea typeface="Helvetica Neue"/>
                <a:cs typeface="Helvetica Neue"/>
              </a:rPr>
              <a:t>Plan review by 19 September. Sprint 1 on 20–26 September. Sprint 2 on 27 September–3 October. Closeout and final presentation on 4–9 October.</a:t>
            </a:r>
            <a:endParaRPr sz="1800">
              <a:solidFill>
                <a:prstClr val="black"/>
              </a:solidFill>
              <a:latin typeface="Helvetica Neue"/>
              <a:ea typeface="Helvetica Neue"/>
              <a:cs typeface="Helvetica Neue"/>
            </a:endParaRPr>
          </a:p>
        </p:txBody>
      </p:sp>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nvSpPr>
        <p:spPr>
          <a:xfrm xmlns:a="http://schemas.openxmlformats.org/drawingml/2006/main">
            <a:off x="393700" y="6330000"/>
            <a:ext cx="10600000" cy="320000"/>
          </a:xfrm>
        </p:spPr>
        <p:txBody>
          <a:bodyPr xmlns:a="http://schemas.openxmlformats.org/drawingml/2006/main">
            <a:noAutofit/>
          </a:bodyPr>
          <a:lstStyle xmlns:a="http://schemas.openxmlformats.org/drawingml/2006/main"/>
          <a:p xmlns:a="http://schemas.openxmlformats.org/drawingml/2006/main">
            <a:pPr marL="0" lvl="0" indent="0">
              <a:spcBef>
                <a:spcPts val="0"/>
              </a:spcBef>
              <a:spcAft>
                <a:spcPts val="500"/>
              </a:spcAft>
              <a:buNone/>
            </a:pPr>
            <a:r>
              <a:rPr sz="1200">
                <a:latin typeface="Helvetica Neue"/>
                <a:ea typeface="Helvetica Neue"/>
                <a:cs typeface="Helvetica Neue"/>
              </a:rPr>
              <a:t>Two weekly construction sprints, after the planned review on 19 September.</a:t>
            </a:r>
            <a:endParaRPr sz="1100"/>
          </a:p>
        </p:txBody>
      </p:sp>
    </p:spTree>
    <p:extLst>
      <p:ext uri="{BB962C8B-B14F-4D97-AF65-F5344CB8AC3E}">
        <p14:creationId xmlns:p14="http://schemas.microsoft.com/office/powerpoint/2010/main" val="36014548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pPr marL="0" lvl="0" indent="0">
              <a:spcBef>
                <a:spcPts val="0"/>
              </a:spcBef>
              <a:spcAft>
                <a:spcPts val="500"/>
              </a:spcAft>
              <a:buNone/>
            </a:pPr>
            <a:r>
              <a:rPr sz="1000">
                <a:latin typeface="Helvetica Neue"/>
                <a:ea typeface="Helvetica Neue"/>
                <a:cs typeface="Helvetica Neue"/>
              </a:rPr>
              <a:t>3</a:t>
            </a:r>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7835900" cy="10474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lvl="0" indent="0">
              <a:spcBef>
                <a:spcPts val="0"/>
              </a:spcBef>
              <a:spcAft>
                <a:spcPts val="500"/>
              </a:spcAft>
              <a:buNone/>
            </a:pPr>
            <a:r>
              <a:rPr sz="3000">
                <a:latin typeface="Helvetica Neue"/>
                <a:ea typeface="Helvetica Neue"/>
                <a:cs typeface="Helvetica Neue"/>
              </a:rPr>
              <a:t>Authority and open decisions</a:t>
            </a:r>
            <a:endParaRP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prstClr val="black"/>
                </a:solidFill>
                <a:latin typeface="Helvetica Neue"/>
                <a:ea typeface="Helvetica Neue"/>
                <a:cs typeface="Helvetica Neue"/>
              </a:rPr>
              <a:t>Student speakers and listeners, instructors and the project team. Technical and accessibility reviewers participate if available.</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850"/>
              </a:spcAft>
              <a:buFontTx/>
              <a:buNone/>
            </a:pPr>
            <a:r>
              <a:rPr sz="1600">
                <a:solidFill>
                  <a:schemeClr val="accent5">
                    <a:lumMod val="50000"/>
                  </a:schemeClr>
                </a:solidFill>
                <a:latin typeface="Helvetica Neue Medium"/>
                <a:ea typeface="Helvetica Neue Medium"/>
                <a:cs typeface="Helvetica Neue Medium"/>
              </a:rPr>
              <a:t>Stakeholders</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prstClr val="black"/>
                </a:solidFill>
                <a:latin typeface="Helvetica Neue"/>
                <a:ea typeface="Helvetica Neue"/>
                <a:cs typeface="Helvetica Neue"/>
              </a:rPr>
              <a:t>Feedback, delay, incompatible devices, unwanted transmission and limited time. Test early and retain a fallback.</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850"/>
              </a:spcAft>
              <a:buFontTx/>
              <a:buNone/>
            </a:pPr>
            <a:r>
              <a:rPr sz="1600">
                <a:solidFill>
                  <a:schemeClr val="accent5">
                    <a:lumMod val="50000"/>
                  </a:schemeClr>
                </a:solidFill>
                <a:latin typeface="Helvetica Neue Medium"/>
                <a:ea typeface="Helvetica Neue Medium"/>
                <a:cs typeface="Helvetica Neue Medium"/>
              </a:rPr>
              <a:t>Initial risks</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prstClr val="black"/>
                </a:solidFill>
                <a:latin typeface="Helvetica Neue"/>
                <a:ea typeface="Helvetica Neue"/>
                <a:cs typeface="Helvetica Neue"/>
              </a:rPr>
              <a:t>100 student hours: Temiko 54 and Nurtore 46. AED 0 incremental cash through reuse of existing equipment.</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850"/>
              </a:spcAft>
              <a:buFontTx/>
              <a:buNone/>
            </a:pPr>
            <a:r>
              <a:rPr sz="1600">
                <a:solidFill>
                  <a:schemeClr val="accent5">
                    <a:lumMod val="50000"/>
                  </a:schemeClr>
                </a:solidFill>
                <a:latin typeface="Helvetica Neue Medium"/>
                <a:ea typeface="Helvetica Neue Medium"/>
                <a:cs typeface="Helvetica Neue Medium"/>
              </a:rPr>
              <a:t>Resources</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prstClr val="black"/>
                </a:solidFill>
                <a:latin typeface="Helvetica Neue"/>
                <a:ea typeface="Helvetica Neue"/>
                <a:cs typeface="Helvetica Neue"/>
              </a:rPr>
              <a:t>Course sponsor and authorization, equipment access, volunteer availability and the proposed 100-hour team capacity.</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850"/>
              </a:spcAft>
              <a:buFontTx/>
              <a:buNone/>
            </a:pPr>
            <a:r>
              <a:rPr sz="1600">
                <a:solidFill>
                  <a:schemeClr val="accent5">
                    <a:lumMod val="50000"/>
                  </a:schemeClr>
                </a:solidFill>
                <a:latin typeface="Helvetica Neue Medium"/>
                <a:ea typeface="Helvetica Neue Medium"/>
                <a:cs typeface="Helvetica Neue Medium"/>
              </a:rPr>
              <a:t>To confirm</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14000"/>
              </a:lnSpc>
              <a:spcBef>
                <a:spcPts val="0"/>
              </a:spcBef>
              <a:spcAft>
                <a:spcPts val="850"/>
              </a:spcAft>
              <a:buFont typeface="Arial"/>
              <a:buNone/>
            </a:pPr>
            <a:r>
              <a:rPr sz="1800">
                <a:latin typeface="Helvetica Neue Medium"/>
                <a:ea typeface="Helvetica Neue Medium"/>
                <a:cs typeface="Helvetica Neue Medium"/>
              </a:rPr>
              <a:t>Planning responsibilities</a:t>
            </a:r>
          </a:p>
          <a:p xmlns:a="http://schemas.openxmlformats.org/drawingml/2006/main">
            <a:pPr marL="0" lvl="0" indent="0">
              <a:lnSpc>
                <a:spcPct val="114000"/>
              </a:lnSpc>
              <a:spcBef>
                <a:spcPts val="0"/>
              </a:spcBef>
              <a:spcAft>
                <a:spcPts val="500"/>
              </a:spcAft>
              <a:buFont typeface="Arial"/>
              <a:buNone/>
            </a:pPr>
            <a:r>
              <a:rPr sz="1800">
                <a:latin typeface="Helvetica Neue"/>
                <a:ea typeface="Helvetica Neue"/>
                <a:cs typeface="Helvetica Neue"/>
              </a:rPr>
              <a:t>Course instructor: acceptance authority.
Nurtore Arynuruly: project manager.
Temiko Machavariani: technical lead.</a:t>
            </a:r>
          </a:p>
          <a:p xmlns:a="http://schemas.openxmlformats.org/drawingml/2006/main">
            <a:pPr marL="0" lvl="0" indent="0">
              <a:lnSpc>
                <a:spcPct val="114000"/>
              </a:lnSpc>
              <a:spcBef>
                <a:spcPts val="0"/>
              </a:spcBef>
              <a:spcAft>
                <a:spcPts val="500"/>
              </a:spcAft>
              <a:buNone/>
            </a:pPr>
            <a:r>
              <a:rPr sz="1700">
                <a:latin typeface="Helvetica Neue"/>
                <a:ea typeface="Helvetica Neue"/>
                <a:cs typeface="Helvetica Neue"/>
              </a:rPr>
              <a:t>The PM coordinates daily work. The instructor reviews material scope and schedule changes. No university spending authority is implied.</a:t>
            </a:r>
          </a:p>
        </p:txBody>
      </p:sp>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nvSpPr>
        <p:spPr>
          <a:xfrm xmlns:a="http://schemas.openxmlformats.org/drawingml/2006/main">
            <a:off x="393700" y="6330000"/>
            <a:ext cx="10600000" cy="320000"/>
          </a:xfrm>
        </p:spPr>
        <p:txBody>
          <a:bodyPr xmlns:a="http://schemas.openxmlformats.org/drawingml/2006/main">
            <a:noAutofit/>
          </a:bodyPr>
          <a:lstStyle xmlns:a="http://schemas.openxmlformats.org/drawingml/2006/main"/>
          <a:p xmlns:a="http://schemas.openxmlformats.org/drawingml/2006/main">
            <a:pPr marL="0" lvl="0" indent="0">
              <a:spcBef>
                <a:spcPts val="0"/>
              </a:spcBef>
              <a:spcAft>
                <a:spcPts val="500"/>
              </a:spcAft>
              <a:buNone/>
            </a:pPr>
            <a:r>
              <a:rPr sz="1200">
                <a:latin typeface="Helvetica Neue"/>
                <a:ea typeface="Helvetica Neue"/>
                <a:cs typeface="Helvetica Neue"/>
              </a:rPr>
              <a:t>No live deployment or paid commitment is authorized by this draft.</a:t>
            </a:r>
            <a:endParaRPr sz="1100"/>
          </a:p>
        </p:txBody>
      </p:sp>
    </p:spTree>
    <p:extLst>
      <p:ext uri="{BB962C8B-B14F-4D97-AF65-F5344CB8AC3E}">
        <p14:creationId xmlns:p14="http://schemas.microsoft.com/office/powerpoint/2010/main" val="676116957"/>
      </p:ext>
    </p:extLst>
  </p:cSld>
</p:sld>
</file>

<file path=ppt/theme/theme1.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2026-09-09T21:00:43.0070000Z</dcterms:created>
  <dcterms:modified xsi:type="dcterms:W3CDTF">2026-09-09T21:00:43.0070000Z</dcterms:modified>
</coreProperties>
</file>