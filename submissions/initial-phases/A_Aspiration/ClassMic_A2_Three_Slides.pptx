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d3fe805e9749ef" /><Relationship Type="http://schemas.openxmlformats.org/officeDocument/2006/relationships/extended-properties" Target="/docProps/app.xml" Id="R6c1d0088e58f460b" /><Relationship Type="http://schemas.openxmlformats.org/officeDocument/2006/relationships/officeDocument" Target="/ppt/presentation.xml" Id="R30ea857f8f43459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d207cdd30674956"/>
  </p:sldMasterIdLst>
  <p:notesMasterIdLst>
    <p:notesMasterId xmlns:r="http://schemas.openxmlformats.org/officeDocument/2006/relationships" r:id="Rbf941ea14e434d99"/>
  </p:notesMasterIdLst>
  <p:sldIdLst>
    <p:sldId xmlns:r="http://schemas.openxmlformats.org/officeDocument/2006/relationships" id="256" r:id="R7489a34cd66f4bb5"/>
    <p:sldId xmlns:r="http://schemas.openxmlformats.org/officeDocument/2006/relationships" id="257" r:id="Rcc1984fc69834e5c"/>
    <p:sldId xmlns:r="http://schemas.openxmlformats.org/officeDocument/2006/relationships" id="258" r:id="R0023a51fd0544aab"/>
  </p:sldIdLst>
  <p:sldSz cx="12192000" cy="6858000"/>
  <p:notesSz cx="6858000" cy="9144000"/>
  <p:embeddedFontLst>
    <p:embeddedFont>
      <p:font typeface="Inter"/>
      <p:regular xmlns:r="http://schemas.openxmlformats.org/officeDocument/2006/relationships" r:id="Ra27db88d2260405d"/>
      <p:bold xmlns:r="http://schemas.openxmlformats.org/officeDocument/2006/relationships" r:id="R2e6f226aa7d947e3"/>
    </p:embeddedFont>
    <p:embeddedFont>
      <p:font typeface="Inter Medium"/>
      <p:regular xmlns:r="http://schemas.openxmlformats.org/officeDocument/2006/relationships" r:id="Rb89a566530d94837"/>
    </p:embeddedFont>
    <p:embeddedFont>
      <p:font typeface="Inter SemiBold"/>
      <p:regular xmlns:r="http://schemas.openxmlformats.org/officeDocument/2006/relationships" r:id="R1536cd0a3f044a65"/>
      <p:bold xmlns:r="http://schemas.openxmlformats.org/officeDocument/2006/relationships" r:id="Rf8418b4fb1dd4930"/>
    </p:embeddedFont>
    <p:embeddedFont>
      <p:font typeface="OpenAI Sans"/>
      <p:regular xmlns:r="http://schemas.openxmlformats.org/officeDocument/2006/relationships" r:id="R7eba54c6a1cf4f74"/>
      <p:bold xmlns:r="http://schemas.openxmlformats.org/officeDocument/2006/relationships" r:id="R978d4f2d5b77437b"/>
      <p:italic xmlns:r="http://schemas.openxmlformats.org/officeDocument/2006/relationships" r:id="R174f4d2ed57543ce"/>
      <p:boldItalic xmlns:r="http://schemas.openxmlformats.org/officeDocument/2006/relationships" r:id="Rceab67663464431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1b44a241074a4e" /><Relationship Type="http://schemas.openxmlformats.org/officeDocument/2006/relationships/slideMaster" Target="/ppt/slideMasters/slideMaster1.xml" Id="R0d207cdd30674956" /><Relationship Type="http://schemas.openxmlformats.org/officeDocument/2006/relationships/notesMaster" Target="/ppt/notesMasters/notesMaster1.xml" Id="Rbf941ea14e434d99" /><Relationship Type="http://schemas.openxmlformats.org/officeDocument/2006/relationships/presProps" Target="/ppt/presProps.xml" Id="Re424eb6b02d74a17" /><Relationship Type="http://schemas.openxmlformats.org/officeDocument/2006/relationships/viewProps" Target="/ppt/viewProps.xml" Id="R1e6bf1bbf71c4211" /><Relationship Type="http://schemas.openxmlformats.org/officeDocument/2006/relationships/tableStyles" Target="/ppt/tableStyles.xml" Id="R023aaefeeaca4ec8" /><Relationship Type="http://schemas.openxmlformats.org/officeDocument/2006/relationships/font" Target="/ppt/fonts/font.dat" Id="Ra27db88d2260405d" /><Relationship Type="http://schemas.openxmlformats.org/officeDocument/2006/relationships/font" Target="/ppt/fonts/font2.dat" Id="R2e6f226aa7d947e3" /><Relationship Type="http://schemas.openxmlformats.org/officeDocument/2006/relationships/font" Target="/ppt/fonts/font3.dat" Id="Rb89a566530d94837" /><Relationship Type="http://schemas.openxmlformats.org/officeDocument/2006/relationships/font" Target="/ppt/fonts/font4.dat" Id="R1536cd0a3f044a65" /><Relationship Type="http://schemas.openxmlformats.org/officeDocument/2006/relationships/font" Target="/ppt/fonts/font5.dat" Id="Rf8418b4fb1dd4930" /><Relationship Type="http://schemas.openxmlformats.org/officeDocument/2006/relationships/font" Target="/ppt/fonts/font6.dat" Id="R7eba54c6a1cf4f74" /><Relationship Type="http://schemas.openxmlformats.org/officeDocument/2006/relationships/font" Target="/ppt/fonts/font7.dat" Id="R978d4f2d5b77437b" /><Relationship Type="http://schemas.openxmlformats.org/officeDocument/2006/relationships/font" Target="/ppt/fonts/font8.dat" Id="R174f4d2ed57543ce" /><Relationship Type="http://schemas.openxmlformats.org/officeDocument/2006/relationships/font" Target="/ppt/fonts/font9.dat" Id="Rceab676634644317" /><Relationship Type="http://schemas.openxmlformats.org/officeDocument/2006/relationships/slide" Target="/ppt/slides/slide1.xml" Id="R7489a34cd66f4bb5" /><Relationship Type="http://schemas.openxmlformats.org/officeDocument/2006/relationships/slide" Target="/ppt/slides/slide2.xml" Id="Rcc1984fc69834e5c" /><Relationship Type="http://schemas.openxmlformats.org/officeDocument/2006/relationships/slide" Target="/ppt/slides/slide3.xml" Id="R0023a51fd0544a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296c3941d544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289d5f5e814f69" /><Relationship Type="http://schemas.openxmlformats.org/officeDocument/2006/relationships/notesMaster" Target="/ppt/notesMasters/notesMaster1.xml" Id="R787b609a06204f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aa77db4325408e" /><Relationship Type="http://schemas.openxmlformats.org/officeDocument/2006/relationships/notesMaster" Target="/ppt/notesMasters/notesMaster1.xml" Id="R84022989b6644c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354a4a5ddb4974" /><Relationship Type="http://schemas.openxmlformats.org/officeDocument/2006/relationships/notesMaster" Target="/ppt/notesMasters/notesMaster1.xml" Id="R00c6ed5182754d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ClassMic proposes a controlled classroom microphone prototype. Demand and performance are hypotheses to test.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Nurtore Arynuruly is the proposed project manager and Temiko Machavariani the proposed technical lead. Participation by reviewers depends on availability.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Targets describe a small feasibility study. Report the actual feedback numerator and denominator. Measure one-way audio delay separately from speaking activation.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1ed4ddfa6e4ba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b976a21412492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32440fc0ab434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dc96aee60f440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fd2796f2c7467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5836e5953d42d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939a8c3bc5468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116089e89a4f2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de9b5bdda64060" /><Relationship Type="http://schemas.openxmlformats.org/officeDocument/2006/relationships/image" Target="/ppt/media/image.png" Id="Rcb2a89ca2f834cd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8217e2a49545f2" /><Relationship Type="http://schemas.openxmlformats.org/officeDocument/2006/relationships/image" Target="/ppt/media/image2.png" Id="Ra9534befef2142eb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 b="1" i="0">
                <a:solidFill>
                  <a:schemeClr val="accent1"/>
                </a:solidFill>
                <a:latin typeface="Inter SemiBold"/>
                <a:ea typeface="Inter SemiBold"/>
                <a:cs typeface="Inter SemiBold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952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4826000"/>
            <a:ext cx="2595934" cy="1168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4826000"/>
            <a:ext cx="2595934" cy="11684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9.xml><?xml version="1.0" encoding="utf-8"?>
<p:sldLayout xmlns:p="http://schemas.openxmlformats.org/presentationml/2006/main" preserve="1" userDrawn="1">
  <p:cSld name="36 Field Grid">
    <p:bg>
      <p:bgPr>
        <a:blipFill xmlns:a="http://schemas.openxmlformats.org/drawingml/2006/main" rotWithShape="1">
          <a:blip xmlns:r="http://schemas.openxmlformats.org/officeDocument/2006/relationships" r:embed="Rcb2a89ca2f834cd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0.xml><?xml version="1.0" encoding="utf-8"?>
<p:sldLayout xmlns:p="http://schemas.openxmlformats.org/presentationml/2006/main" preserve="1" userDrawn="1">
  <p:cSld name="48 Field Grid">
    <p:bg>
      <p:bgPr>
        <a:blipFill xmlns:a="http://schemas.openxmlformats.org/drawingml/2006/main" rotWithShape="1">
          <a:blip xmlns:r="http://schemas.openxmlformats.org/officeDocument/2006/relationships" r:embed="Ra9534befef2142e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43467085a54c76" /><Relationship Type="http://schemas.openxmlformats.org/officeDocument/2006/relationships/slideLayout" Target="/ppt/slideLayouts/slideLayout1.xml" Id="Rcfb0aedc932e4f47" /><Relationship Type="http://schemas.openxmlformats.org/officeDocument/2006/relationships/slideLayout" Target="/ppt/slideLayouts/slideLayout2.xml" Id="R22f00b75b0734f23" /><Relationship Type="http://schemas.openxmlformats.org/officeDocument/2006/relationships/slideLayout" Target="/ppt/slideLayouts/slideLayout3.xml" Id="R139b4cb3b39a41c8" /><Relationship Type="http://schemas.openxmlformats.org/officeDocument/2006/relationships/slideLayout" Target="/ppt/slideLayouts/slideLayout4.xml" Id="R6c034508db884623" /><Relationship Type="http://schemas.openxmlformats.org/officeDocument/2006/relationships/slideLayout" Target="/ppt/slideLayouts/slideLayout5.xml" Id="R4381b6fd1b444138" /><Relationship Type="http://schemas.openxmlformats.org/officeDocument/2006/relationships/slideLayout" Target="/ppt/slideLayouts/slideLayout6.xml" Id="Rab7116c82a85442d" /><Relationship Type="http://schemas.openxmlformats.org/officeDocument/2006/relationships/slideLayout" Target="/ppt/slideLayouts/slideLayout7.xml" Id="Rf94ae598ceff47c1" /><Relationship Type="http://schemas.openxmlformats.org/officeDocument/2006/relationships/slideLayout" Target="/ppt/slideLayouts/slideLayout8.xml" Id="R4f7a1fc04bbb4ba7" /><Relationship Type="http://schemas.openxmlformats.org/officeDocument/2006/relationships/slideLayout" Target="/ppt/slideLayouts/slideLayout9.xml" Id="Rd4dc394960d5445e" /><Relationship Type="http://schemas.openxmlformats.org/officeDocument/2006/relationships/slideLayout" Target="/ppt/slideLayouts/slideLayout10.xml" Id="R409cda01b7a34ef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1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1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b0aedc932e4f47"/>
    <p:sldLayoutId xmlns:r="http://schemas.openxmlformats.org/officeDocument/2006/relationships" id="2147483650" r:id="R22f00b75b0734f23"/>
    <p:sldLayoutId xmlns:r="http://schemas.openxmlformats.org/officeDocument/2006/relationships" id="2147483651" r:id="R139b4cb3b39a41c8"/>
    <p:sldLayoutId xmlns:r="http://schemas.openxmlformats.org/officeDocument/2006/relationships" id="2147483652" r:id="R6c034508db884623"/>
    <p:sldLayoutId xmlns:r="http://schemas.openxmlformats.org/officeDocument/2006/relationships" id="2147483653" r:id="R4381b6fd1b444138"/>
    <p:sldLayoutId xmlns:r="http://schemas.openxmlformats.org/officeDocument/2006/relationships" id="2147483654" r:id="Rab7116c82a85442d"/>
    <p:sldLayoutId xmlns:r="http://schemas.openxmlformats.org/officeDocument/2006/relationships" id="2147483655" r:id="Rf94ae598ceff47c1"/>
    <p:sldLayoutId xmlns:r="http://schemas.openxmlformats.org/officeDocument/2006/relationships" id="2147483656" r:id="R4f7a1fc04bbb4ba7"/>
    <p:sldLayoutId xmlns:r="http://schemas.openxmlformats.org/officeDocument/2006/relationships" id="2147483657" r:id="Rd4dc394960d5445e"/>
    <p:sldLayoutId xmlns:r="http://schemas.openxmlformats.org/officeDocument/2006/relationships" id="2147483658" r:id="R409cda01b7a34efd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900" b="0" i="0" kern="1200">
          <a:solidFill>
            <a:schemeClr val="tx1"/>
          </a:solidFill>
          <a:latin typeface="Inter Medium"/>
          <a:ea typeface="Inter Medium"/>
          <a:cs typeface="Inter Medium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xmlns:a="http://schemas.openxmlformats.org/drawingml/2006/main" val="F26B43"/>
          </p15:clr>
        </p15:guide>
        <p15:guide id="2" pos="7680" userDrawn="1">
          <p15:clr>
            <a:srgbClr xmlns:a="http://schemas.openxmlformats.org/drawingml/2006/main" val="F26B43"/>
          </p15:clr>
        </p15:guide>
        <p15:guide id="3" pos="248" userDrawn="1">
          <p15:clr>
            <a:srgbClr xmlns:a="http://schemas.openxmlformats.org/drawingml/2006/main" val="F26B43"/>
          </p15:clr>
        </p15:guide>
        <p15:guide id="4" pos="1264" userDrawn="1">
          <p15:clr>
            <a:srgbClr xmlns:a="http://schemas.openxmlformats.org/drawingml/2006/main" val="F26B43"/>
          </p15:clr>
        </p15:guide>
        <p15:guide id="5" pos="1480" userDrawn="1">
          <p15:clr>
            <a:srgbClr xmlns:a="http://schemas.openxmlformats.org/drawingml/2006/main" val="F26B43"/>
          </p15:clr>
        </p15:guide>
        <p15:guide id="6" pos="2496" userDrawn="1">
          <p15:clr>
            <a:srgbClr xmlns:a="http://schemas.openxmlformats.org/drawingml/2006/main" val="F26B43"/>
          </p15:clr>
        </p15:guide>
        <p15:guide id="7" pos="2712" userDrawn="1">
          <p15:clr>
            <a:srgbClr xmlns:a="http://schemas.openxmlformats.org/drawingml/2006/main" val="F26B43"/>
          </p15:clr>
        </p15:guide>
        <p15:guide id="8" pos="3736" userDrawn="1">
          <p15:clr>
            <a:srgbClr xmlns:a="http://schemas.openxmlformats.org/drawingml/2006/main" val="F26B43"/>
          </p15:clr>
        </p15:guide>
        <p15:guide id="9" pos="3944" userDrawn="1">
          <p15:clr>
            <a:srgbClr xmlns:a="http://schemas.openxmlformats.org/drawingml/2006/main" val="F26B43"/>
          </p15:clr>
        </p15:guide>
        <p15:guide id="10" pos="4968" userDrawn="1">
          <p15:clr>
            <a:srgbClr xmlns:a="http://schemas.openxmlformats.org/drawingml/2006/main" val="F26B43"/>
          </p15:clr>
        </p15:guide>
        <p15:guide id="11" pos="5184" userDrawn="1">
          <p15:clr>
            <a:srgbClr xmlns:a="http://schemas.openxmlformats.org/drawingml/2006/main" val="F26B43"/>
          </p15:clr>
        </p15:guide>
        <p15:guide id="12" pos="6200" userDrawn="1">
          <p15:clr>
            <a:srgbClr xmlns:a="http://schemas.openxmlformats.org/drawingml/2006/main" val="F26B43"/>
          </p15:clr>
        </p15:guide>
        <p15:guide id="13" pos="6416" userDrawn="1">
          <p15:clr>
            <a:srgbClr xmlns:a="http://schemas.openxmlformats.org/drawingml/2006/main" val="F26B43"/>
          </p15:clr>
        </p15:guide>
        <p15:guide id="14" pos="7432" userDrawn="1">
          <p15:clr>
            <a:srgbClr xmlns:a="http://schemas.openxmlformats.org/drawingml/2006/main" val="F26B43"/>
          </p15:clr>
        </p15:guide>
        <p15:guide id="15" orient="horz" userDrawn="1">
          <p15:clr>
            <a:srgbClr xmlns:a="http://schemas.openxmlformats.org/drawingml/2006/main" val="F26B43"/>
          </p15:clr>
        </p15:guide>
        <p15:guide id="17" orient="horz" pos="248" userDrawn="1">
          <p15:clr>
            <a:srgbClr xmlns:a="http://schemas.openxmlformats.org/drawingml/2006/main" val="F26B43"/>
          </p15:clr>
        </p15:guide>
        <p15:guide id="18" orient="horz" pos="656" userDrawn="1">
          <p15:clr>
            <a:srgbClr xmlns:a="http://schemas.openxmlformats.org/drawingml/2006/main" val="F26B43"/>
          </p15:clr>
        </p15:guide>
        <p15:guide id="19" orient="horz" pos="872" userDrawn="1">
          <p15:clr>
            <a:srgbClr xmlns:a="http://schemas.openxmlformats.org/drawingml/2006/main" val="F26B43"/>
          </p15:clr>
        </p15:guide>
        <p15:guide id="20" orient="horz" pos="1280" userDrawn="1">
          <p15:clr>
            <a:srgbClr xmlns:a="http://schemas.openxmlformats.org/drawingml/2006/main" val="F26B43"/>
          </p15:clr>
        </p15:guide>
        <p15:guide id="21" orient="horz" pos="1496" userDrawn="1">
          <p15:clr>
            <a:srgbClr xmlns:a="http://schemas.openxmlformats.org/drawingml/2006/main" val="F26B43"/>
          </p15:clr>
        </p15:guide>
        <p15:guide id="22" orient="horz" pos="1904" userDrawn="1">
          <p15:clr>
            <a:srgbClr xmlns:a="http://schemas.openxmlformats.org/drawingml/2006/main" val="F26B43"/>
          </p15:clr>
        </p15:guide>
        <p15:guide id="23" orient="horz" pos="2120" userDrawn="1">
          <p15:clr>
            <a:srgbClr xmlns:a="http://schemas.openxmlformats.org/drawingml/2006/main" val="F26B43"/>
          </p15:clr>
        </p15:guide>
        <p15:guide id="24" orient="horz" pos="2528" userDrawn="1">
          <p15:clr>
            <a:srgbClr xmlns:a="http://schemas.openxmlformats.org/drawingml/2006/main" val="F26B43"/>
          </p15:clr>
        </p15:guide>
        <p15:guide id="25" orient="horz" pos="2744" userDrawn="1">
          <p15:clr>
            <a:srgbClr xmlns:a="http://schemas.openxmlformats.org/drawingml/2006/main" val="F26B43"/>
          </p15:clr>
        </p15:guide>
        <p15:guide id="26" orient="horz" pos="3152" userDrawn="1">
          <p15:clr>
            <a:srgbClr xmlns:a="http://schemas.openxmlformats.org/drawingml/2006/main" val="F26B43"/>
          </p15:clr>
        </p15:guide>
        <p15:guide id="27" orient="horz" pos="3368" userDrawn="1">
          <p15:clr>
            <a:srgbClr xmlns:a="http://schemas.openxmlformats.org/drawingml/2006/main" val="F26B43"/>
          </p15:clr>
        </p15:guide>
        <p15:guide id="28" orient="horz" pos="3776" userDrawn="1">
          <p15:clr>
            <a:srgbClr xmlns:a="http://schemas.openxmlformats.org/drawingml/2006/main" val="F26B43"/>
          </p15:clr>
        </p15:guide>
        <p15:guide id="29" orient="horz" pos="4088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3371b9bf3c446e" /><Relationship Type="http://schemas.openxmlformats.org/officeDocument/2006/relationships/notesSlide" Target="/ppt/notesSlides/notesSlide1.xml" Id="R793491a45f254a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625b79fe20d4328" /><Relationship Type="http://schemas.openxmlformats.org/officeDocument/2006/relationships/notesSlide" Target="/ppt/notesSlides/notesSlide2.xml" Id="Re99c1f45d5ed41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19dd9d366246cf" /><Relationship Type="http://schemas.openxmlformats.org/officeDocument/2006/relationships/notesSlide" Target="/ppt/notesSlides/notesSlide3.xml" Id="Rb51283bb78a0402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DBC152D0-CDF3-969A-A32E-0A1C97DA936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000">
                <a:latin typeface="Helvetica Neue"/>
                <a:ea typeface="Helvetica Neue"/>
                <a:cs typeface="Helvetica Neue"/>
              </a:rPr>
              <a:t>1</a:t>
            </a:r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9CA28587-E9DB-FD6E-67D5-B6C4D20349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78359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3000">
                <a:latin typeface="Helvetica Neue"/>
                <a:ea typeface="Helvetica Neue"/>
                <a:cs typeface="Helvetica Neue"/>
              </a:rPr>
              <a:t>ClassMic aspiration</a:t>
            </a:r>
            <a:endParaRPr/>
          </a:p>
        </p:txBody>
      </p:sp>
      <p:sp>
        <p:nvSpPr>
          <p:cNvPr id="12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2575F3F3-5548-310C-CA8A-2BB5F4F1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49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When a question is hard to hear, the instructor may need to repeat it or pass a microphone. Local frequency is unmeasured.</a:t>
            </a:r>
          </a:p>
        </p:txBody>
      </p:sp>
      <p:sp>
        <p:nvSpPr>
          <p:cNvPr id="1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0C3B7B-28A7-FE2B-805B-9E84EA8C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3749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1600">
                <a:solidFill>
                  <a:schemeClr val="accent5">
                    <a:lumMod val="50000"/>
                  </a:schemeClr>
                </a:solidFill>
                <a:latin typeface="Helvetica Neue Medium"/>
                <a:ea typeface="Helvetica Neue Medium"/>
                <a:cs typeface="Helvetica Neue Medium"/>
              </a:rPr>
              <a:t>Problem</a:t>
            </a:r>
          </a:p>
        </p:txBody>
      </p:sp>
      <p:sp>
        <p:nvSpPr>
          <p:cNvPr id="1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989BD75-DE8D-B290-9745-1D9E8821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655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Students request a turn from their phones. An approved speaker uses the room speaker without passing a microphone.</a:t>
            </a:r>
          </a:p>
        </p:txBody>
      </p:sp>
      <p:sp>
        <p:nvSpPr>
          <p:cNvPr id="17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E53F591C-9E43-179D-176D-24989B8B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3655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1600">
                <a:solidFill>
                  <a:schemeClr val="accent5">
                    <a:lumMod val="50000"/>
                  </a:schemeClr>
                </a:solidFill>
                <a:latin typeface="Helvetica Neue Medium"/>
                <a:ea typeface="Helvetica Neue Medium"/>
                <a:cs typeface="Helvetica Neue Medium"/>
              </a:rPr>
              <a:t>Proposed value</a:t>
            </a:r>
          </a:p>
        </p:txBody>
      </p:sp>
      <p:sp>
        <p:nvSpPr>
          <p:cNvPr id="1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A7B38CBA-379D-8AEA-4C18-49046133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3561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The proposed phone microphone workflow needs local demand and performance testing.</a:t>
            </a:r>
          </a:p>
        </p:txBody>
      </p:sp>
      <p:sp>
        <p:nvSpPr>
          <p:cNvPr id="19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C558135D-EC8F-1FA0-D966-C8D4FA2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43561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1600">
                <a:solidFill>
                  <a:schemeClr val="accent5">
                    <a:lumMod val="50000"/>
                  </a:schemeClr>
                </a:solidFill>
                <a:latin typeface="Helvetica Neue Medium"/>
                <a:ea typeface="Helvetica Neue Medium"/>
                <a:cs typeface="Helvetica Neue Medium"/>
              </a:rPr>
              <a:t>Concept</a:t>
            </a:r>
          </a:p>
        </p:txBody>
      </p:sp>
      <p:sp>
        <p:nvSpPr>
          <p:cNvPr id="20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59682F0D-6358-B00F-89D9-1AC37090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359401"/>
            <a:ext cx="4826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Two weekly build sprints and controlled evaluation. A live classroom pilot needs a later decision.</a:t>
            </a:r>
          </a:p>
        </p:txBody>
      </p:sp>
      <p:sp>
        <p:nvSpPr>
          <p:cNvPr id="2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858787E0-CB4B-BCAC-702A-ECD3032D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5359401"/>
            <a:ext cx="18669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1600">
                <a:solidFill>
                  <a:schemeClr val="accent5">
                    <a:lumMod val="50000"/>
                  </a:schemeClr>
                </a:solidFill>
                <a:latin typeface="Helvetica Neue Medium"/>
                <a:ea typeface="Helvetica Neue Medium"/>
                <a:cs typeface="Helvetica Neue Medium"/>
              </a:rPr>
              <a:t>Boundary</a:t>
            </a:r>
          </a:p>
        </p:txBody>
      </p:sp>
      <p:sp>
        <p:nvSpPr>
          <p:cNvPr id="3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82CDA0F-E73C-7EBB-EE08-FECCE69C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2374901"/>
            <a:ext cx="3568700" cy="36194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850"/>
              </a:spcAft>
              <a:buFont typeface="Arial"/>
              <a:buNone/>
            </a:pPr>
            <a:r>
              <a:rPr sz="1800">
                <a:latin typeface="Helvetica Neue Medium"/>
                <a:ea typeface="Helvetica Neue Medium"/>
                <a:cs typeface="Helvetica Neue Medium"/>
              </a:rPr>
              <a:t>A2  Classroom participation</a:t>
            </a:r>
          </a:p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Font typeface="Arial"/>
              <a:buNone/>
            </a:pPr>
            <a:r>
              <a:rPr sz="2000">
                <a:latin typeface="Helvetica Neue"/>
                <a:ea typeface="Helvetica Neue"/>
                <a:cs typeface="Helvetica Neue"/>
              </a:rPr>
              <a:t>Make student questions easier for the whole room to hear while the instructor controls speaking turns.</a:t>
            </a:r>
          </a:p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800">
                <a:latin typeface="Helvetica Neue"/>
                <a:ea typeface="Helvetica Neue"/>
                <a:cs typeface="Helvetica Neue"/>
              </a:rPr>
              <a:t>The course project will test a small browser prototype using existing equipment.</a:t>
            </a: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B4523B68-CB58-F426-D824-531128F4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6330000"/>
            <a:ext cx="10600000" cy="3200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200">
                <a:latin typeface="Helvetica Neue"/>
                <a:ea typeface="Helvetica Neue"/>
                <a:cs typeface="Helvetica Neue"/>
              </a:rPr>
              <a:t>Temiko Machavariani and Nurtore Arynuruly   BUS 2010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7611695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164318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Tx/>
              <a:buSzTx/>
              <a:buFontTx/>
              <a:buNone/>
            </a:pPr>
            <a:r>
              <a:rPr sz="2400" b="0" i="0" u="none" cap="none" spc="0">
                <a:ln>
                  <a:noFill/>
                </a:ln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Students</a:t>
            </a: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</a:pP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Speakers need a simple way to request a turn. Listeners need clear audio. Participation stays optional, with an alternative speaking path.</a:t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000">
                <a:latin typeface="Helvetica Neue"/>
                <a:ea typeface="Helvetica Neue"/>
                <a:cs typeface="Helvetica Neue"/>
              </a:rPr>
              <a:t>2</a:t>
            </a:r>
            <a:endParaRPr/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164318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ClrTx/>
              <a:buSzTx/>
              <a:buFontTx/>
              <a:buNone/>
            </a:pPr>
            <a:r>
              <a:rPr sz="2400" b="0" i="0" u="none" cap="none" spc="0">
                <a:ln>
                  <a:noFill/>
                </a:ln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Instructors</a:t>
            </a:r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</a:pPr>
            <a:r>
              <a:rPr sz="1800" b="0" i="0" u="none" cap="none" spc="0">
                <a:ln>
                  <a:noFill/>
                </a:ln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Operators need approval, mute and end controls that fit classroom discussion. Their feedback will shape the workflow.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1040292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3000">
                <a:latin typeface="Helvetica Neue"/>
                <a:ea typeface="Helvetica Neue"/>
                <a:cs typeface="Helvetica Neue"/>
              </a:rPr>
              <a:t>People and decisions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24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Project team</a:t>
            </a:r>
          </a:p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Temiko leads the prototype. Nurtore coordinates requirements, delivery and evaluation. </a:t>
            </a: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These are proposed planning responsibilities.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10000"/>
              </a:lnSpc>
              <a:spcBef>
                <a:spcPts val="0"/>
              </a:spcBef>
              <a:spcAft>
                <a:spcPts val="850"/>
              </a:spcAft>
              <a:buFontTx/>
              <a:buNone/>
            </a:pPr>
            <a:r>
              <a:rPr sz="24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Review and support</a:t>
            </a:r>
          </a:p>
          <a:p xmlns:a="http://schemas.openxmlformats.org/drawingml/2006/main">
            <a:pPr marL="0" lv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Tx/>
              <a:buNone/>
            </a:pPr>
            <a:r>
              <a:rPr sz="18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The course instructor is the proposed acceptance authority. Device, sound and accessibility advice depends on available reviewers.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6330000"/>
            <a:ext cx="10600000" cy="3200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200">
                <a:latin typeface="Helvetica Neue"/>
                <a:ea typeface="Helvetica Neue"/>
                <a:cs typeface="Helvetica Neue"/>
              </a:rPr>
              <a:t>Team capacity and reviewer availability remain planning assumptions.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27489CDA-073D-5D98-B832-86AD74222B7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000">
                <a:latin typeface="Helvetica Neue"/>
                <a:ea typeface="Helvetica Neue"/>
                <a:cs typeface="Helvetica Neue"/>
              </a:rPr>
              <a:t>3</a:t>
            </a:r>
            <a:endParaRPr/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08EBC4B8-BBC1-7C2A-F77D-BEC6394B0F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9"/>
            <a:ext cx="7835900" cy="58158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3000">
                <a:latin typeface="Helvetica Neue"/>
                <a:ea typeface="Helvetica Neue"/>
                <a:cs typeface="Helvetica Neue"/>
              </a:rPr>
              <a:t>Proposed success measures</a:t>
            </a:r>
            <a:endParaRPr/>
          </a:p>
        </p:txBody>
      </p:sp>
      <p:sp>
        <p:nvSpPr>
          <p:cNvPr id="14" name="Content Placeholder 15">
            <a:extLst xmlns:a="http://schemas.openxmlformats.org/drawingml/2006/main">
              <a:ext uri="{FF2B5EF4-FFF2-40B4-BE49-F238E27FC236}">
                <a16:creationId xmlns:a16="http://schemas.microsoft.com/office/drawing/2014/main" id="{D81689CF-E5CF-3072-801D-DC2D321D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39" y="1057501"/>
            <a:ext cx="11404599" cy="101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Autofit/>
          </a:bodyPr>
          <a:lstStyle xmlns:a="http://schemas.openxmlformats.org/drawingml/2006/main"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850"/>
              </a:spcAft>
              <a:buNone/>
            </a:pPr>
            <a:r>
              <a:rPr sz="1800">
                <a:solidFill>
                  <a:prstClr val="black"/>
                </a:solidFill>
                <a:latin typeface="Helvetica Neue Medium"/>
                <a:ea typeface="Helvetica Neue Medium"/>
                <a:cs typeface="Helvetica Neue Medium"/>
              </a:rPr>
              <a:t>Course feasibility test</a:t>
            </a:r>
          </a:p>
          <a:p xmlns:a="http://schemas.openxmlformats.org/drawingml/2006/main">
            <a:pPr marL="0" lvl="0" indent="0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600">
                <a:solidFill>
                  <a:prstClr val="black"/>
                </a:solidFill>
                <a:latin typeface="Helvetica Neue"/>
                <a:ea typeface="Helvetica Neue"/>
                <a:cs typeface="Helvetica Neue"/>
              </a:rPr>
              <a:t>Five priority user stories, two weekly sprints and a report of actual results. These targets are proposals, not measured outcomes.</a:t>
            </a:r>
          </a:p>
        </p:txBody>
      </p:sp>
      <p:graphicFrame>
        <p:nvGraphicFramePr>
          <p:cNvPr id="538" name="Google Shape;644;p93"/>
          <p:cNvGraphicFramePr/>
          <p:nvPr/>
        </p:nvGraphicFramePr>
        <p:xfrm>
          <a:off xmlns:a="http://schemas.openxmlformats.org/drawingml/2006/main" x="393700" y="2251080"/>
          <a:ext xmlns:a="http://schemas.openxmlformats.org/drawingml/2006/main" cx="11404599" cy="3932614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300000"/>
                <a:gridCol w="5700000"/>
                <a:gridCol w="3404599"/>
              </a:tblGrid>
              <a:tr h="78652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elvetica Neue Medium"/>
                          <a:ea typeface="Helvetica Neue Medium"/>
                          <a:cs typeface="Helvetica Neue Medium"/>
                        </a:rPr>
                        <a:t>Measure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700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elvetica Neue Medium"/>
                          <a:ea typeface="Helvetica Neue Medium"/>
                          <a:cs typeface="Helvetica Neue Medium"/>
                        </a:rPr>
                        <a:t>Target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elvetica Neue Medium"/>
                          <a:ea typeface="Helvetica Neue Medium"/>
                          <a:cs typeface="Helvetica Neue Medium"/>
                        </a:rPr>
                        <a:t>Evidence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</a:tr>
              <a:tr h="78652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Complete scope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Five stories and all Must checks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Acceptance record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78652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Setup and speaking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9/10 setups within 2 min
27/30 speaking trials within 3 sec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Scripted timed trials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78652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Audibility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At least 75% positive feedback
At least 5 volunteer reviewers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Counts and sample limits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78652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Control and privacy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unauthorized transmission
No saved audio or transcripts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Misuse and storage checks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110000" marT="90000" marB="90000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8357537-167D-0462-A21D-DD8E8744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6330000"/>
            <a:ext cx="10600000" cy="320000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0" lv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200">
                <a:latin typeface="Helvetica Neue"/>
                <a:ea typeface="Helvetica Neue"/>
                <a:cs typeface="Helvetica Neue"/>
              </a:rPr>
              <a:t>One-way audio delay target: 95th percentile at most 150 ms.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29854879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/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Temiko Machavariani and Nurtore Arynuruly</dc:creator>
  <lastModifiedBy/>
  <dc:title>Presentation</dc:title>
  <dcterms:created xsi:type="dcterms:W3CDTF">2026-09-17T16:30:19.4190000Z</dcterms:created>
  <dcterms:modified xsi:type="dcterms:W3CDTF">2026-09-17T16:30:19.4190000Z</dcterms:modified>
</coreProperties>
</file>