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9a1dccf0caff4bb8"/><Relationship Type="http://schemas.openxmlformats.org/officeDocument/2006/relationships/extended-properties" Target="/docProps/app.xml" Id="R50a55a77d063496a"/><Relationship Type="http://schemas.openxmlformats.org/officeDocument/2006/relationships/officeDocument" Target="/ppt/presentation.xml" Id="R572a83969f5d4b25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03b684c589c43a0"/>
  </p:sldMasterIdLst>
  <p:notesMasterIdLst>
    <p:notesMasterId xmlns:r="http://schemas.openxmlformats.org/officeDocument/2006/relationships" r:id="Rebfa89fc8e094eb7"/>
  </p:notesMasterIdLst>
  <p:sldIdLst>
    <p:sldId xmlns:r="http://schemas.openxmlformats.org/officeDocument/2006/relationships" id="256" r:id="R614619b7df9e4497"/>
    <p:sldId xmlns:r="http://schemas.openxmlformats.org/officeDocument/2006/relationships" id="257" r:id="Rf55f5acaac5b4e5f"/>
    <p:sldId xmlns:r="http://schemas.openxmlformats.org/officeDocument/2006/relationships" id="258" r:id="Rd80681c4616740ef"/>
  </p:sldIdLst>
  <p:sldSz cx="12192000" cy="6858000"/>
  <p:notesSz cx="6858000" cy="9144000"/>
  <p:embeddedFontLst>
    <p:embeddedFont>
      <p:font typeface="Inter"/>
      <p:regular xmlns:r="http://schemas.openxmlformats.org/officeDocument/2006/relationships" r:id="Rccda2cef48044518"/>
      <p:bold xmlns:r="http://schemas.openxmlformats.org/officeDocument/2006/relationships" r:id="R21ac4814e3bb4a1e"/>
    </p:embeddedFont>
    <p:embeddedFont>
      <p:font typeface="Inter Medium"/>
      <p:regular xmlns:r="http://schemas.openxmlformats.org/officeDocument/2006/relationships" r:id="Ra4711824c48e483f"/>
    </p:embeddedFont>
    <p:embeddedFont>
      <p:font typeface="Inter SemiBold"/>
      <p:regular xmlns:r="http://schemas.openxmlformats.org/officeDocument/2006/relationships" r:id="R8515374f98b94505"/>
      <p:bold xmlns:r="http://schemas.openxmlformats.org/officeDocument/2006/relationships" r:id="R2734362e5eb84d4d"/>
    </p:embeddedFont>
    <p:embeddedFont>
      <p:font typeface="OpenAI Sans"/>
      <p:regular xmlns:r="http://schemas.openxmlformats.org/officeDocument/2006/relationships" r:id="Rd2d87befcf8c42e4"/>
      <p:bold xmlns:r="http://schemas.openxmlformats.org/officeDocument/2006/relationships" r:id="R5e8d1ede7f464306"/>
      <p:italic xmlns:r="http://schemas.openxmlformats.org/officeDocument/2006/relationships" r:id="Rb4c9c577e8254651"/>
      <p:boldItalic xmlns:r="http://schemas.openxmlformats.org/officeDocument/2006/relationships" r:id="R30e7026ac5584b2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a73e48603a4fea" /><Relationship Type="http://schemas.openxmlformats.org/officeDocument/2006/relationships/slideMaster" Target="/ppt/slideMasters/slideMaster1.xml" Id="R503b684c589c43a0" /><Relationship Type="http://schemas.openxmlformats.org/officeDocument/2006/relationships/notesMaster" Target="/ppt/notesMasters/notesMaster1.xml" Id="Rebfa89fc8e094eb7" /><Relationship Type="http://schemas.openxmlformats.org/officeDocument/2006/relationships/presProps" Target="/ppt/presProps.xml" Id="Rdbb0d81a68e34200" /><Relationship Type="http://schemas.openxmlformats.org/officeDocument/2006/relationships/viewProps" Target="/ppt/viewProps.xml" Id="R5793b16c9311408a" /><Relationship Type="http://schemas.openxmlformats.org/officeDocument/2006/relationships/tableStyles" Target="/ppt/tableStyles.xml" Id="Rdfa14806c5634877" /><Relationship Type="http://schemas.openxmlformats.org/officeDocument/2006/relationships/font" Target="/ppt/fonts/font.dat" Id="Rccda2cef48044518" /><Relationship Type="http://schemas.openxmlformats.org/officeDocument/2006/relationships/font" Target="/ppt/fonts/font2.dat" Id="R21ac4814e3bb4a1e" /><Relationship Type="http://schemas.openxmlformats.org/officeDocument/2006/relationships/font" Target="/ppt/fonts/font3.dat" Id="Ra4711824c48e483f" /><Relationship Type="http://schemas.openxmlformats.org/officeDocument/2006/relationships/font" Target="/ppt/fonts/font4.dat" Id="R8515374f98b94505" /><Relationship Type="http://schemas.openxmlformats.org/officeDocument/2006/relationships/font" Target="/ppt/fonts/font5.dat" Id="R2734362e5eb84d4d" /><Relationship Type="http://schemas.openxmlformats.org/officeDocument/2006/relationships/font" Target="/ppt/fonts/font6.dat" Id="Rd2d87befcf8c42e4" /><Relationship Type="http://schemas.openxmlformats.org/officeDocument/2006/relationships/font" Target="/ppt/fonts/font7.dat" Id="R5e8d1ede7f464306" /><Relationship Type="http://schemas.openxmlformats.org/officeDocument/2006/relationships/font" Target="/ppt/fonts/font8.dat" Id="Rb4c9c577e8254651" /><Relationship Type="http://schemas.openxmlformats.org/officeDocument/2006/relationships/font" Target="/ppt/fonts/font9.dat" Id="R30e7026ac5584b21" /><Relationship Type="http://schemas.openxmlformats.org/officeDocument/2006/relationships/slide" Target="/ppt/slides/slide1.xml" Id="R614619b7df9e4497" /><Relationship Type="http://schemas.openxmlformats.org/officeDocument/2006/relationships/slide" Target="/ppt/slides/slide2.xml" Id="Rf55f5acaac5b4e5f" /><Relationship Type="http://schemas.openxmlformats.org/officeDocument/2006/relationships/slide" Target="/ppt/slides/slide3.xml" Id="Rd80681c4616740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0124e35a1343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884740ad1146bc" /><Relationship Type="http://schemas.openxmlformats.org/officeDocument/2006/relationships/notesMaster" Target="/ppt/notesMasters/notesMaster1.xml" Id="Re3a615cab30b4a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263c66606f4693" /><Relationship Type="http://schemas.openxmlformats.org/officeDocument/2006/relationships/notesMaster" Target="/ppt/notesMasters/notesMaster1.xml" Id="R0867ea9b5d7440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85fca3b25e4fe6" /><Relationship Type="http://schemas.openxmlformats.org/officeDocument/2006/relationships/notesMaster" Target="/ppt/notesMasters/notesMaster1.xml" Id="R0d2a50ee3b264f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Speaking activation is the time from instructor approval until a ready speaker is audible. Measure one-way audio delay separately, with a 95th-percentile target of 150 ms or less.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second sprint ends on 2 October so the product report can be ready before 3 October at 00:00. Classroom deployment requires separate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proposed effort split is 54 hours for Temiko Machavariani and 46 for Nurtore Arynuruly. The course instructor accepts assessed deliverables and reviews material scope and schedule changes.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3220af45564a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c7bccac2054c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ef036232c4b2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4cd3a8b4541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c73769c7ac46c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5fc2133734d2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be37a8f35840d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e75624649414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761575a94d494c" /><Relationship Type="http://schemas.openxmlformats.org/officeDocument/2006/relationships/image" Target="/ppt/media/image.png" Id="R4990f2fd95f54e1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056fcdb1154107" /><Relationship Type="http://schemas.openxmlformats.org/officeDocument/2006/relationships/image" Target="/ppt/media/image2.png" Id="R3b54e20648c24853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 b="1" i="0">
                <a:solidFill>
                  <a:schemeClr val="accent1"/>
                </a:solidFill>
                <a:latin typeface="Inter SemiBold"/>
                <a:ea typeface="Inter SemiBold"/>
                <a:cs typeface="Inter SemiBold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952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preserve="1" userDrawn="1">
  <p:cSld name="36 Field Grid">
    <p:bg>
      <p:bgPr>
        <a:blipFill xmlns:a="http://schemas.openxmlformats.org/drawingml/2006/main" rotWithShape="1">
          <a:blip xmlns:r="http://schemas.openxmlformats.org/officeDocument/2006/relationships" r:embed="R4990f2fd95f54e1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preserve="1" userDrawn="1">
  <p:cSld name="48 Field Grid">
    <p:bg>
      <p:bgPr>
        <a:blipFill xmlns:a="http://schemas.openxmlformats.org/drawingml/2006/main" rotWithShape="1">
          <a:blip xmlns:r="http://schemas.openxmlformats.org/officeDocument/2006/relationships" r:embed="R3b54e20648c2485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faa0e0eef74595" /><Relationship Type="http://schemas.openxmlformats.org/officeDocument/2006/relationships/slideLayout" Target="/ppt/slideLayouts/slideLayout1.xml" Id="R021c8c61ace04b2b" /><Relationship Type="http://schemas.openxmlformats.org/officeDocument/2006/relationships/slideLayout" Target="/ppt/slideLayouts/slideLayout2.xml" Id="R206a53d2a3654fbd" /><Relationship Type="http://schemas.openxmlformats.org/officeDocument/2006/relationships/slideLayout" Target="/ppt/slideLayouts/slideLayout3.xml" Id="R3e204f3bc9134efc" /><Relationship Type="http://schemas.openxmlformats.org/officeDocument/2006/relationships/slideLayout" Target="/ppt/slideLayouts/slideLayout4.xml" Id="R2c0af024a31948de" /><Relationship Type="http://schemas.openxmlformats.org/officeDocument/2006/relationships/slideLayout" Target="/ppt/slideLayouts/slideLayout5.xml" Id="R59c0b814125a490f" /><Relationship Type="http://schemas.openxmlformats.org/officeDocument/2006/relationships/slideLayout" Target="/ppt/slideLayouts/slideLayout6.xml" Id="R7160cdbc017745f7" /><Relationship Type="http://schemas.openxmlformats.org/officeDocument/2006/relationships/slideLayout" Target="/ppt/slideLayouts/slideLayout7.xml" Id="R14d5cd45946342c1" /><Relationship Type="http://schemas.openxmlformats.org/officeDocument/2006/relationships/slideLayout" Target="/ppt/slideLayouts/slideLayout8.xml" Id="Rf32edc1035f447f3" /><Relationship Type="http://schemas.openxmlformats.org/officeDocument/2006/relationships/slideLayout" Target="/ppt/slideLayouts/slideLayout9.xml" Id="R85ce6425be0d4a0b" /><Relationship Type="http://schemas.openxmlformats.org/officeDocument/2006/relationships/slideLayout" Target="/ppt/slideLayouts/slideLayout10.xml" Id="R8112d5a244bd4a6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1c8c61ace04b2b"/>
    <p:sldLayoutId xmlns:r="http://schemas.openxmlformats.org/officeDocument/2006/relationships" id="2147483650" r:id="R206a53d2a3654fbd"/>
    <p:sldLayoutId xmlns:r="http://schemas.openxmlformats.org/officeDocument/2006/relationships" id="2147483651" r:id="R3e204f3bc9134efc"/>
    <p:sldLayoutId xmlns:r="http://schemas.openxmlformats.org/officeDocument/2006/relationships" id="2147483652" r:id="R2c0af024a31948de"/>
    <p:sldLayoutId xmlns:r="http://schemas.openxmlformats.org/officeDocument/2006/relationships" id="2147483653" r:id="R59c0b814125a490f"/>
    <p:sldLayoutId xmlns:r="http://schemas.openxmlformats.org/officeDocument/2006/relationships" id="2147483654" r:id="R7160cdbc017745f7"/>
    <p:sldLayoutId xmlns:r="http://schemas.openxmlformats.org/officeDocument/2006/relationships" id="2147483655" r:id="R14d5cd45946342c1"/>
    <p:sldLayoutId xmlns:r="http://schemas.openxmlformats.org/officeDocument/2006/relationships" id="2147483656" r:id="Rf32edc1035f447f3"/>
    <p:sldLayoutId xmlns:r="http://schemas.openxmlformats.org/officeDocument/2006/relationships" id="2147483657" r:id="R85ce6425be0d4a0b"/>
    <p:sldLayoutId xmlns:r="http://schemas.openxmlformats.org/officeDocument/2006/relationships" id="2147483658" r:id="R8112d5a244bd4a67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b="0" i="0" kern="1200">
          <a:solidFill>
            <a:schemeClr val="tx1"/>
          </a:solidFill>
          <a:latin typeface="Inter Medium"/>
          <a:ea typeface="Inter Medium"/>
          <a:cs typeface="Inter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446939d0474e49" /><Relationship Type="http://schemas.openxmlformats.org/officeDocument/2006/relationships/notesSlide" Target="/ppt/notesSlides/notesSlide1.xml" Id="Rd393709ae7ab49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12e6f4e13f844ef" /><Relationship Type="http://schemas.openxmlformats.org/officeDocument/2006/relationships/notesSlide" Target="/ppt/notesSlides/notesSlide2.xml" Id="Rc335344dcbcc41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e56bccd3184fe7" /><Relationship Type="http://schemas.openxmlformats.org/officeDocument/2006/relationships/notesSlide" Target="/ppt/notesSlides/notesSlide3.xml" Id="R247361e22cf04b6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27489CDA-073D-5D98-B832-86AD74222B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1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ClassMic project charter</a:t>
            </a:r>
            <a:endParaRPr/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85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C1  Draft course authorization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Test whether instructor-controlled phone microphones make classroom questions easier to hear. Use the results to assess a larger pilot.</a:t>
            </a:r>
          </a:p>
        </p:txBody>
      </p:sp>
      <p:graphicFrame>
        <p:nvGraphicFramePr>
          <p:cNvPr id="538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600000"/>
                <a:gridCol w="5300000"/>
                <a:gridCol w="3504599"/>
              </a:tblGrid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Objective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7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Proposed target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Evidence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O1  Complete scope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Five stories and all required checks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Acceptance record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O2  Setup and speaking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9/10 setups within 2 min
27/30 speaking trials within 3 sec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Scripted timed trials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O3  Audibility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At least 75% positive feedback
At least 5 volunteer reviewers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Feedback counts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O4  Control and privacy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unauthorized transmission
No saved audio or transcripts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Misuse and storage checks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Temiko Machavariani and Nurtore Arynuruly   BUS 2010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985487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Included scope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</a:pP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Temporary browser sessions, QR or code join, speaking queue, one approved phone microphone, speaker output, recovery and evaluation.</a:t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2</a:t>
            </a: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Exclusions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</a:pP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Live teaching deployment, recording, transcripts, persistent profiles, grading, attendance, simultaneous microphones and paid production infrastructure.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Scope and delivery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24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Requirements</a:t>
            </a:r>
          </a:p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Require microphone permission, instructor approval and push to talk. Mute, disconnect and end must stop audio. Keep a physical microphone or instructor repetition available.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24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Milestones</a:t>
            </a:r>
          </a:p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Plan review 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by 18 September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. Sprint 1 on 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19–25 September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. Sprint 2 on 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26 September–2 October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. Closeout and final presentation on 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3–9 October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.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Two weekly development sprints follow the proposed plan review on 18 September.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BC152D0-CDF3-969A-A32E-0A1C97DA936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3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CA28587-E9DB-FD6E-67D5-B6C4D2034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Governance and resources</a:t>
            </a:r>
            <a:endParaRPr/>
          </a:p>
        </p:txBody>
      </p:sp>
      <p:sp>
        <p:nvSpPr>
          <p:cNvPr id="1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2575F3F3-5548-310C-CA8A-2BB5F4F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9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Student speakers and listeners, instructors and the project team. Technical and accessibility reviewers participate if available.</a:t>
            </a:r>
          </a:p>
        </p:txBody>
      </p:sp>
      <p:sp>
        <p:nvSpPr>
          <p:cNvPr id="1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0C3B7B-28A7-FE2B-805B-9E84EA8C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3749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Stakeholders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989BD75-DE8D-B290-9745-1D9E882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5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Speaker feedback, delays, incompatible devices and unwanted transmission. Test early and keep a physical microphone or instructor repetition available.</a:t>
            </a:r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53F591C-9E43-179D-176D-24989B8B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655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Initial risks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7B38CBA-379D-8AEA-4C18-49046133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1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100 student hours: Temiko 54 and Nurtore 46. AED 0 incremental cash through reuse of existing equipment.</a:t>
            </a:r>
          </a:p>
        </p:txBody>
      </p:sp>
      <p:sp>
        <p:nvSpPr>
          <p:cNvPr id="19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58135D-EC8F-1FA0-D966-C8D4FA2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43561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Resources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9682F0D-6358-B00F-89D9-1AC370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Delivery assumes course acceptance, available equipment, volunteer reviewers and 100 hours of team capacity.</a:t>
            </a:r>
          </a:p>
        </p:txBody>
      </p:sp>
      <p:sp>
        <p:nvSpPr>
          <p:cNvPr id="2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858787E0-CB4B-BCAC-702A-ECD3032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53594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Assumptions</a:t>
            </a:r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82CDA0F-E73C-7EBB-EE08-FECCE69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74901"/>
            <a:ext cx="3568700" cy="36194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850"/>
              </a:spcAft>
              <a:buFont typeface="Arial"/>
              <a:buNone/>
            </a:pPr>
            <a:r>
              <a:rPr sz="1800">
                <a:latin typeface="Helvetica Neue Medium"/>
                <a:ea typeface="Helvetica Neue Medium"/>
                <a:cs typeface="Helvetica Neue Medium"/>
              </a:rPr>
              <a:t>Planning responsibilities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Course instructor: acceptance authority.
Nurtore Arynuruly: project manager.
Temiko Machavariani: technical lead.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700">
                <a:latin typeface="Helvetica Neue"/>
                <a:ea typeface="Helvetica Neue"/>
                <a:cs typeface="Helvetica Neue"/>
              </a:rPr>
              <a:t>The project manager coordinates daily work. The instructor reviews material scope and schedule changes. The team cannot commit university funds.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B4523B68-CB58-F426-D824-531128F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New spending and live classroom use require separate approval.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76116957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PresentationFormat>On-screen Show (16:9)</ap:PresentationFormat>
  <ap:Slides>3</ap:Slides>
  <ap:Notes>3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Temiko Machavariani and Nurtore Arynuruly</dc:creator>
  <dc:title>ClassMic Project Charter</dc:title>
</coreProperties>
</file>