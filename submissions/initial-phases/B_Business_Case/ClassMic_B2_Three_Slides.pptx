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8b062b5315ca4416"/><Relationship Type="http://schemas.openxmlformats.org/officeDocument/2006/relationships/extended-properties" Target="/docProps/app.xml" Id="Rc3c26104ea2d4518"/><Relationship Type="http://schemas.openxmlformats.org/officeDocument/2006/relationships/officeDocument" Target="/ppt/presentation.xml" Id="Rcb78d18467dd44a2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519d1f7f97e4bcb"/>
  </p:sldMasterIdLst>
  <p:notesMasterIdLst>
    <p:notesMasterId xmlns:r="http://schemas.openxmlformats.org/officeDocument/2006/relationships" r:id="R19fe2e419ce54047"/>
  </p:notesMasterIdLst>
  <p:sldIdLst>
    <p:sldId xmlns:r="http://schemas.openxmlformats.org/officeDocument/2006/relationships" id="256" r:id="R990380ddf7a34a4a"/>
    <p:sldId xmlns:r="http://schemas.openxmlformats.org/officeDocument/2006/relationships" id="257" r:id="R55e7d9f2f959441c"/>
    <p:sldId xmlns:r="http://schemas.openxmlformats.org/officeDocument/2006/relationships" id="258" r:id="Re33fc3ee91084837"/>
  </p:sldIdLst>
  <p:sldSz cx="12192000" cy="6858000"/>
  <p:notesSz cx="6858000" cy="9144000"/>
  <p:embeddedFontLst>
    <p:embeddedFont>
      <p:font typeface="Inter"/>
      <p:regular xmlns:r="http://schemas.openxmlformats.org/officeDocument/2006/relationships" r:id="Rbbb1a91465f54caa"/>
      <p:bold xmlns:r="http://schemas.openxmlformats.org/officeDocument/2006/relationships" r:id="R7a26ceb7334f42eb"/>
    </p:embeddedFont>
    <p:embeddedFont>
      <p:font typeface="Inter Medium"/>
      <p:regular xmlns:r="http://schemas.openxmlformats.org/officeDocument/2006/relationships" r:id="R2ed09d924f474dad"/>
    </p:embeddedFont>
    <p:embeddedFont>
      <p:font typeface="Inter SemiBold"/>
      <p:regular xmlns:r="http://schemas.openxmlformats.org/officeDocument/2006/relationships" r:id="R437742c0b72b457b"/>
      <p:bold xmlns:r="http://schemas.openxmlformats.org/officeDocument/2006/relationships" r:id="Rb4683aa36a2c4531"/>
    </p:embeddedFont>
    <p:embeddedFont>
      <p:font typeface="OpenAI Sans"/>
      <p:regular xmlns:r="http://schemas.openxmlformats.org/officeDocument/2006/relationships" r:id="R5e913a0729624129"/>
      <p:bold xmlns:r="http://schemas.openxmlformats.org/officeDocument/2006/relationships" r:id="R182f6c4db4a949f2"/>
      <p:italic xmlns:r="http://schemas.openxmlformats.org/officeDocument/2006/relationships" r:id="R6371a3945e8042a9"/>
      <p:boldItalic xmlns:r="http://schemas.openxmlformats.org/officeDocument/2006/relationships" r:id="R6654126fb592425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3d10f1da84ac5" /><Relationship Type="http://schemas.openxmlformats.org/officeDocument/2006/relationships/slideMaster" Target="/ppt/slideMasters/slideMaster1.xml" Id="Rc519d1f7f97e4bcb" /><Relationship Type="http://schemas.openxmlformats.org/officeDocument/2006/relationships/notesMaster" Target="/ppt/notesMasters/notesMaster1.xml" Id="R19fe2e419ce54047" /><Relationship Type="http://schemas.openxmlformats.org/officeDocument/2006/relationships/presProps" Target="/ppt/presProps.xml" Id="Rf35c4219e6354254" /><Relationship Type="http://schemas.openxmlformats.org/officeDocument/2006/relationships/viewProps" Target="/ppt/viewProps.xml" Id="R241f42f0be564e5e" /><Relationship Type="http://schemas.openxmlformats.org/officeDocument/2006/relationships/tableStyles" Target="/ppt/tableStyles.xml" Id="R923f587f63cb4133" /><Relationship Type="http://schemas.openxmlformats.org/officeDocument/2006/relationships/font" Target="/ppt/fonts/font.dat" Id="Rbbb1a91465f54caa" /><Relationship Type="http://schemas.openxmlformats.org/officeDocument/2006/relationships/font" Target="/ppt/fonts/font2.dat" Id="R7a26ceb7334f42eb" /><Relationship Type="http://schemas.openxmlformats.org/officeDocument/2006/relationships/font" Target="/ppt/fonts/font3.dat" Id="R2ed09d924f474dad" /><Relationship Type="http://schemas.openxmlformats.org/officeDocument/2006/relationships/font" Target="/ppt/fonts/font4.dat" Id="R437742c0b72b457b" /><Relationship Type="http://schemas.openxmlformats.org/officeDocument/2006/relationships/font" Target="/ppt/fonts/font5.dat" Id="Rb4683aa36a2c4531" /><Relationship Type="http://schemas.openxmlformats.org/officeDocument/2006/relationships/font" Target="/ppt/fonts/font6.dat" Id="R5e913a0729624129" /><Relationship Type="http://schemas.openxmlformats.org/officeDocument/2006/relationships/font" Target="/ppt/fonts/font7.dat" Id="R182f6c4db4a949f2" /><Relationship Type="http://schemas.openxmlformats.org/officeDocument/2006/relationships/font" Target="/ppt/fonts/font8.dat" Id="R6371a3945e8042a9" /><Relationship Type="http://schemas.openxmlformats.org/officeDocument/2006/relationships/font" Target="/ppt/fonts/font9.dat" Id="R6654126fb592425d" /><Relationship Type="http://schemas.openxmlformats.org/officeDocument/2006/relationships/slide" Target="/ppt/slides/slide1.xml" Id="R990380ddf7a34a4a" /><Relationship Type="http://schemas.openxmlformats.org/officeDocument/2006/relationships/slide" Target="/ppt/slides/slide2.xml" Id="R55e7d9f2f959441c" /><Relationship Type="http://schemas.openxmlformats.org/officeDocument/2006/relationships/slide" Target="/ppt/slides/slide3.xml" Id="Re33fc3ee910848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17eaffbb6047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746a52603b4b1f" /><Relationship Type="http://schemas.openxmlformats.org/officeDocument/2006/relationships/notesMaster" Target="/ppt/notesMasters/notesMaster1.xml" Id="R9649e435accb41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986cc5edd243f5" /><Relationship Type="http://schemas.openxmlformats.org/officeDocument/2006/relationships/notesMaster" Target="/ppt/notesMasters/notesMaster1.xml" Id="R4a8615fecb6241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a78251e2b64d91" /><Relationship Type="http://schemas.openxmlformats.org/officeDocument/2006/relationships/notesMaster" Target="/ppt/notesMasters/notesMaster1.xml" Id="R9d02f64610bb43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Biamp Crowd Mics offers phone microphones and moderator control. Source: https://www.biamp.com/products/families/crowd-mics (accessed 17 September 2026). A local supplier quote and classroom trial are still needed for a purchase comparison.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https://www.biamp.com/products/families/crowd-mics and https://www.biamp.com/products/families/crowd-mics/faq (accessed 17 September 2026). The prototype estimate assumes 100 available student hours and reuse of existing equipment.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proposed planning review is on 18 September. Sprint 1 runs 19–25 September and Sprint 2 runs 26 September–2 October. The product report is due 3 October at 00:00, execution evidence on 4 October at 00:00 and closing work on 10 October at 00:00.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0b88396da45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98c3ff350649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8924321d8245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96d48421fe4f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c0cbb51ec41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fc943b41c349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cb9435f2b4ef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912951abcc453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3274dcb6a2436c" /><Relationship Type="http://schemas.openxmlformats.org/officeDocument/2006/relationships/image" Target="/ppt/media/image.png" Id="R446bc57fa242436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af8d6f25c74d19" /><Relationship Type="http://schemas.openxmlformats.org/officeDocument/2006/relationships/image" Target="/ppt/media/image2.png" Id="Rdbfddb38cbfe43e7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 b="1" i="0">
                <a:solidFill>
                  <a:schemeClr val="accent1"/>
                </a:solidFill>
                <a:latin typeface="Inter SemiBold"/>
                <a:ea typeface="Inter SemiBold"/>
                <a:cs typeface="Inter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952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446bc57fa24243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dbfddb38cbfe43e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9baf5f5dbd41fe" /><Relationship Type="http://schemas.openxmlformats.org/officeDocument/2006/relationships/slideLayout" Target="/ppt/slideLayouts/slideLayout1.xml" Id="R817e9b4c5fc14e6d" /><Relationship Type="http://schemas.openxmlformats.org/officeDocument/2006/relationships/slideLayout" Target="/ppt/slideLayouts/slideLayout2.xml" Id="R0f4a7f9e64154d54" /><Relationship Type="http://schemas.openxmlformats.org/officeDocument/2006/relationships/slideLayout" Target="/ppt/slideLayouts/slideLayout3.xml" Id="Re1e6f57d8637420e" /><Relationship Type="http://schemas.openxmlformats.org/officeDocument/2006/relationships/slideLayout" Target="/ppt/slideLayouts/slideLayout4.xml" Id="Rd36f7b80337a40bc" /><Relationship Type="http://schemas.openxmlformats.org/officeDocument/2006/relationships/slideLayout" Target="/ppt/slideLayouts/slideLayout5.xml" Id="R24e747cacc144436" /><Relationship Type="http://schemas.openxmlformats.org/officeDocument/2006/relationships/slideLayout" Target="/ppt/slideLayouts/slideLayout6.xml" Id="R1797878657f7451c" /><Relationship Type="http://schemas.openxmlformats.org/officeDocument/2006/relationships/slideLayout" Target="/ppt/slideLayouts/slideLayout7.xml" Id="R8f5a1246729d4067" /><Relationship Type="http://schemas.openxmlformats.org/officeDocument/2006/relationships/slideLayout" Target="/ppt/slideLayouts/slideLayout8.xml" Id="R4a0caaf73a7f42e6" /><Relationship Type="http://schemas.openxmlformats.org/officeDocument/2006/relationships/slideLayout" Target="/ppt/slideLayouts/slideLayout9.xml" Id="R2bfbc8a235f743ae" /><Relationship Type="http://schemas.openxmlformats.org/officeDocument/2006/relationships/slideLayout" Target="/ppt/slideLayouts/slideLayout10.xml" Id="R2ebe54e152ae444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7e9b4c5fc14e6d"/>
    <p:sldLayoutId xmlns:r="http://schemas.openxmlformats.org/officeDocument/2006/relationships" id="2147483650" r:id="R0f4a7f9e64154d54"/>
    <p:sldLayoutId xmlns:r="http://schemas.openxmlformats.org/officeDocument/2006/relationships" id="2147483651" r:id="Re1e6f57d8637420e"/>
    <p:sldLayoutId xmlns:r="http://schemas.openxmlformats.org/officeDocument/2006/relationships" id="2147483652" r:id="Rd36f7b80337a40bc"/>
    <p:sldLayoutId xmlns:r="http://schemas.openxmlformats.org/officeDocument/2006/relationships" id="2147483653" r:id="R24e747cacc144436"/>
    <p:sldLayoutId xmlns:r="http://schemas.openxmlformats.org/officeDocument/2006/relationships" id="2147483654" r:id="R1797878657f7451c"/>
    <p:sldLayoutId xmlns:r="http://schemas.openxmlformats.org/officeDocument/2006/relationships" id="2147483655" r:id="R8f5a1246729d4067"/>
    <p:sldLayoutId xmlns:r="http://schemas.openxmlformats.org/officeDocument/2006/relationships" id="2147483656" r:id="R4a0caaf73a7f42e6"/>
    <p:sldLayoutId xmlns:r="http://schemas.openxmlformats.org/officeDocument/2006/relationships" id="2147483657" r:id="R2bfbc8a235f743ae"/>
    <p:sldLayoutId xmlns:r="http://schemas.openxmlformats.org/officeDocument/2006/relationships" id="2147483658" r:id="R2ebe54e152ae444b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2ae40801a74e60" /><Relationship Type="http://schemas.openxmlformats.org/officeDocument/2006/relationships/notesSlide" Target="/ppt/notesSlides/notesSlide1.xml" Id="Rd931dfec134746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7dbbed25b2426e" /><Relationship Type="http://schemas.openxmlformats.org/officeDocument/2006/relationships/notesSlide" Target="/ppt/notesSlides/notesSlide2.xml" Id="R8c7379ca7f9b47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1854b49e4c4d6d" /><Relationship Type="http://schemas.openxmlformats.org/officeDocument/2006/relationships/notesSlide" Target="/ppt/notesSlides/notesSlide3.xml" Id="R4ca652bac036486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BC152D0-CDF3-969A-A32E-0A1C97DA936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1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ClassMic business case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Test whether phone microphones make questions easier to hear than the current speaking process.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Need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The expected benefit is clearer questions with fewer interruptions. Local benefits and costs still need testing.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Value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Improve the current process, evaluate a commercial product, or build the small ClassMic prototype.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Alternatives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Biamp already offers phone microphones and moderation. A small custom prototype lets us test browser access and instructor controls.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Evidence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Font typeface="Arial"/>
              <a:buNone/>
            </a:pPr>
            <a:r>
              <a:rPr sz="1800">
                <a:latin typeface="Helvetica Neue Medium"/>
                <a:ea typeface="Helvetica Neue Medium"/>
                <a:cs typeface="Helvetica Neue Medium"/>
              </a:rPr>
              <a:t>B2  Decision requested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Font typeface="Arial"/>
              <a:buNone/>
            </a:pPr>
            <a:r>
              <a:rPr sz="2200">
                <a:latin typeface="Helvetica Neue"/>
                <a:ea typeface="Helvetica Neue"/>
                <a:cs typeface="Helvetica Neue"/>
              </a:rPr>
              <a:t>GO for a limited course prototype using existing resources.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A funded classroom pilot stays at REVISE until local need, performance, cost and support are established.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Temiko Machavariani and Nurtore Arynuruly   BUS 2010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7489CDA-073D-5D98-B832-86AD74222B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2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Alternatives and tradeoffs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Three options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Compare changes to current practice, a commercial product and a custom prototype. Local costs and classroom performance are still unknown.</a:t>
            </a:r>
          </a:p>
        </p:txBody>
      </p:sp>
      <p:graphicFrame>
        <p:nvGraphicFramePr>
          <p:cNvPr id="538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300000"/>
                <a:gridCol w="3300000"/>
                <a:gridCol w="3000000"/>
                <a:gridCol w="2804599"/>
              </a:tblGrid>
              <a:tr h="98315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Option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6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Potential value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Cost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6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Main uncertainty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98315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Improve current practice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 instructor repetition or an existing mic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Uses existing equipment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Does it solve the local problem?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98315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Buy or adapt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Existing phone mic and moderator workflow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Hardware and installation quote needed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Room fit and total support cost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98315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 prototype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Test browser access and instructor control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student hours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AED 0 additional cash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Audio feasibility and maintenance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A campus purchase decision needs local tests and supplier quotes.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Proposed sequence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Review D 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by 18 September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Sprint 1 runs 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19–25 September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Sprint 2 runs 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26 September–2 October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 Closing runs 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3–9 October</a:t>
            </a: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.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3</a:t>
            </a: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Resources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Plan for 100 student hours. Reuse available phones, a laptop and a speaker. Any paid tool or equipment requires a revised estimate.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Delivery and decision gates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Course acceptance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Complete five required stories, run timed trials and collect volunteer feedback. Report defects and any missed targets.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Future investment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A classroom pilot needs evidence of demand, usable audio, a support owner and an approved budget. Compare commercial alternatives first.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Product report due 3 October at 00:00. Finish testing by 2 October.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PresentationFormat>On-screen Show (16:9)</ap:PresentationFormat>
  <ap:Slides>3</ap:Slides>
  <ap:Notes>3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Temiko Machavariani and Nurtore Arynuruly</dc:creator>
  <dc:title>ClassMic Business Case</dc:title>
</coreProperties>
</file>